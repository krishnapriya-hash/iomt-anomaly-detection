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4" r:id="rId1"/>
  </p:sldMasterIdLst>
  <p:sldIdLst>
    <p:sldId id="265" r:id="rId2"/>
    <p:sldId id="280" r:id="rId3"/>
    <p:sldId id="257" r:id="rId4"/>
    <p:sldId id="258" r:id="rId5"/>
    <p:sldId id="268" r:id="rId6"/>
    <p:sldId id="269" r:id="rId7"/>
    <p:sldId id="259" r:id="rId8"/>
    <p:sldId id="260" r:id="rId9"/>
    <p:sldId id="261" r:id="rId10"/>
    <p:sldId id="262" r:id="rId11"/>
    <p:sldId id="263" r:id="rId12"/>
    <p:sldId id="266" r:id="rId13"/>
    <p:sldId id="271" r:id="rId14"/>
    <p:sldId id="272" r:id="rId15"/>
    <p:sldId id="273" r:id="rId16"/>
    <p:sldId id="274" r:id="rId17"/>
    <p:sldId id="275" r:id="rId18"/>
    <p:sldId id="276" r:id="rId19"/>
    <p:sldId id="277" r:id="rId20"/>
    <p:sldId id="278" r:id="rId21"/>
    <p:sldId id="279" r:id="rId22"/>
    <p:sldId id="281" r:id="rId23"/>
    <p:sldId id="282" r:id="rId24"/>
    <p:sldId id="283" r:id="rId25"/>
    <p:sldId id="284" r:id="rId26"/>
    <p:sldId id="285" r:id="rId27"/>
    <p:sldId id="286" r:id="rId28"/>
    <p:sldId id="287" r:id="rId29"/>
    <p:sldId id="270" r:id="rId30"/>
    <p:sldId id="26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241424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3218149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2268712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3061647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181382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1788245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2295447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4145789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1464333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2649766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DB68BF-B426-4F31-8589-B5E9DB439BBB}"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91073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1457494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DB68BF-B426-4F31-8589-B5E9DB439BBB}"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7862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789589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96463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398CD8-7328-42C6-8EBC-427CE0516898}" type="datetimeFigureOut">
              <a:rPr lang="en-US" smtClean="0"/>
              <a:t>4/4/2026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DB68BF-B426-4F31-8589-B5E9DB439BBB}" type="slidenum">
              <a:rPr lang="en-US" smtClean="0"/>
              <a:t>‹#›</a:t>
            </a:fld>
            <a:endParaRPr lang="en-US" dirty="0"/>
          </a:p>
        </p:txBody>
      </p:sp>
    </p:spTree>
    <p:extLst>
      <p:ext uri="{BB962C8B-B14F-4D97-AF65-F5344CB8AC3E}">
        <p14:creationId xmlns:p14="http://schemas.microsoft.com/office/powerpoint/2010/main" val="2433698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4398CD8-7328-42C6-8EBC-427CE0516898}" type="datetimeFigureOut">
              <a:rPr lang="en-US" smtClean="0"/>
              <a:t>4/4/2026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0DB68BF-B426-4F31-8589-B5E9DB439BBB}" type="slidenum">
              <a:rPr lang="en-US" smtClean="0"/>
              <a:t>‹#›</a:t>
            </a:fld>
            <a:endParaRPr lang="en-US" dirty="0"/>
          </a:p>
        </p:txBody>
      </p:sp>
    </p:spTree>
    <p:extLst>
      <p:ext uri="{BB962C8B-B14F-4D97-AF65-F5344CB8AC3E}">
        <p14:creationId xmlns:p14="http://schemas.microsoft.com/office/powerpoint/2010/main" val="3816910549"/>
      </p:ext>
    </p:extLst>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3946" r:id="rId12"/>
    <p:sldLayoutId id="2147483947" r:id="rId13"/>
    <p:sldLayoutId id="2147483948" r:id="rId14"/>
    <p:sldLayoutId id="2147483949" r:id="rId15"/>
    <p:sldLayoutId id="214748395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7">
            <a:extLst>
              <a:ext uri="{FF2B5EF4-FFF2-40B4-BE49-F238E27FC236}">
                <a16:creationId xmlns:a16="http://schemas.microsoft.com/office/drawing/2014/main" id="{95B94E10-27A9-4464-E5C0-CEF6F7EA8017}"/>
              </a:ext>
            </a:extLst>
          </p:cNvPr>
          <p:cNvSpPr>
            <a:spLocks noGrp="1"/>
          </p:cNvSpPr>
          <p:nvPr>
            <p:ph idx="1"/>
          </p:nvPr>
        </p:nvSpPr>
        <p:spPr>
          <a:xfrm>
            <a:off x="865731" y="98324"/>
            <a:ext cx="9601200" cy="3099590"/>
          </a:xfrm>
        </p:spPr>
        <p:txBody>
          <a:bodyPr>
            <a:normAutofit fontScale="25000" lnSpcReduction="20000"/>
          </a:bodyPr>
          <a:lstStyle/>
          <a:p>
            <a:pPr marL="0" indent="0" algn="ctr">
              <a:lnSpc>
                <a:spcPct val="150000"/>
              </a:lnSpc>
              <a:buNone/>
            </a:pPr>
            <a:r>
              <a:rPr lang="en-US" sz="8000" b="1" dirty="0">
                <a:solidFill>
                  <a:schemeClr val="tx1"/>
                </a:solidFill>
                <a:latin typeface="Times New Roman" panose="02020603050405020304" pitchFamily="18" charset="0"/>
                <a:cs typeface="Times New Roman" panose="02020603050405020304" pitchFamily="18" charset="0"/>
              </a:rPr>
              <a:t>ST.ANN’S COLLEGE OF ENGINEERING AND TECHNOLOGY,CHIRALA</a:t>
            </a:r>
          </a:p>
          <a:p>
            <a:pPr marL="0" indent="0" algn="ctr">
              <a:lnSpc>
                <a:spcPct val="150000"/>
              </a:lnSpc>
              <a:buNone/>
            </a:pPr>
            <a:r>
              <a:rPr lang="en-US" sz="8000" b="1" dirty="0">
                <a:solidFill>
                  <a:schemeClr val="tx1"/>
                </a:solidFill>
                <a:latin typeface="Times New Roman" panose="02020603050405020304" pitchFamily="18" charset="0"/>
                <a:cs typeface="Times New Roman" panose="02020603050405020304" pitchFamily="18" charset="0"/>
              </a:rPr>
              <a:t>DEPARTMENT OF CSE-CYBERSECURITY</a:t>
            </a:r>
          </a:p>
          <a:p>
            <a:pPr marL="0" indent="0" algn="ctr">
              <a:lnSpc>
                <a:spcPct val="150000"/>
              </a:lnSpc>
              <a:buNone/>
            </a:pPr>
            <a:r>
              <a:rPr lang="en-US" sz="9600" b="1" dirty="0">
                <a:solidFill>
                  <a:schemeClr val="accent1"/>
                </a:solidFill>
                <a:latin typeface="Times New Roman" panose="02020603050405020304" pitchFamily="18" charset="0"/>
                <a:cs typeface="Times New Roman" panose="02020603050405020304" pitchFamily="18" charset="0"/>
              </a:rPr>
              <a:t>REAL-TIME ANOMALY DETECTION IN IOMT NETWORKS              USING STACKING MODEL AND A HEALTHCARE SPECIFIC DATASET</a:t>
            </a:r>
          </a:p>
          <a:p>
            <a:pPr marL="0" indent="0" algn="ctr">
              <a:lnSpc>
                <a:spcPct val="150000"/>
              </a:lnSpc>
              <a:buNone/>
            </a:pPr>
            <a:endParaRPr lang="en-US" sz="7400" b="1"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14" name="Text Placeholder 13">
            <a:extLst>
              <a:ext uri="{FF2B5EF4-FFF2-40B4-BE49-F238E27FC236}">
                <a16:creationId xmlns:a16="http://schemas.microsoft.com/office/drawing/2014/main" id="{1EC1E1E2-DC87-7665-F0EC-5A1172C52A29}"/>
              </a:ext>
            </a:extLst>
          </p:cNvPr>
          <p:cNvSpPr>
            <a:spLocks noGrp="1"/>
          </p:cNvSpPr>
          <p:nvPr>
            <p:ph type="body" sz="half" idx="2"/>
          </p:nvPr>
        </p:nvSpPr>
        <p:spPr>
          <a:xfrm>
            <a:off x="2153264" y="3512545"/>
            <a:ext cx="4070555" cy="3630397"/>
          </a:xfrm>
        </p:spPr>
        <p:txBody>
          <a:bodyPr>
            <a:normAutofit/>
          </a:bodyPr>
          <a:lstStyle/>
          <a:p>
            <a:pPr algn="just"/>
            <a:r>
              <a:rPr lang="en-US" b="1" dirty="0">
                <a:solidFill>
                  <a:schemeClr val="tx1"/>
                </a:solidFill>
                <a:latin typeface="Times New Roman" panose="02020603050405020304" pitchFamily="18" charset="0"/>
                <a:cs typeface="Times New Roman" panose="02020603050405020304" pitchFamily="18" charset="0"/>
              </a:rPr>
              <a:t>PROJECT GUIDE:</a:t>
            </a:r>
          </a:p>
          <a:p>
            <a:pPr algn="just"/>
            <a:r>
              <a:rPr lang="en-US" dirty="0">
                <a:solidFill>
                  <a:schemeClr val="tx1"/>
                </a:solidFill>
                <a:latin typeface="Times New Roman" panose="02020603050405020304" pitchFamily="18" charset="0"/>
                <a:cs typeface="Times New Roman" panose="02020603050405020304" pitchFamily="18" charset="0"/>
              </a:rPr>
              <a:t>Mr. DR.SREERAM INDRANEEL</a:t>
            </a:r>
          </a:p>
          <a:p>
            <a:pPr algn="just"/>
            <a:r>
              <a:rPr lang="en-US" dirty="0">
                <a:solidFill>
                  <a:schemeClr val="tx1"/>
                </a:solidFill>
                <a:latin typeface="Times New Roman" panose="02020603050405020304" pitchFamily="18" charset="0"/>
                <a:cs typeface="Times New Roman" panose="02020603050405020304" pitchFamily="18" charset="0"/>
              </a:rPr>
              <a:t>PROFESSOR</a:t>
            </a:r>
          </a:p>
          <a:p>
            <a:pPr algn="just"/>
            <a:r>
              <a:rPr lang="en-US" b="1" dirty="0">
                <a:solidFill>
                  <a:schemeClr val="tx1"/>
                </a:solidFill>
                <a:latin typeface="Times New Roman" panose="02020603050405020304" pitchFamily="18" charset="0"/>
                <a:cs typeface="Times New Roman" panose="02020603050405020304" pitchFamily="18" charset="0"/>
              </a:rPr>
              <a:t>PROJECT COORDINATOR</a:t>
            </a:r>
            <a:r>
              <a:rPr lang="en-US" dirty="0">
                <a:solidFill>
                  <a:schemeClr val="tx1"/>
                </a:solidFill>
                <a:latin typeface="Times New Roman" panose="02020603050405020304" pitchFamily="18" charset="0"/>
                <a:cs typeface="Times New Roman" panose="02020603050405020304" pitchFamily="18" charset="0"/>
              </a:rPr>
              <a:t>:</a:t>
            </a:r>
          </a:p>
          <a:p>
            <a:pPr algn="just"/>
            <a:r>
              <a:rPr lang="en-US" dirty="0">
                <a:solidFill>
                  <a:schemeClr val="tx1"/>
                </a:solidFill>
                <a:latin typeface="Times New Roman" panose="02020603050405020304" pitchFamily="18" charset="0"/>
                <a:cs typeface="Times New Roman" panose="02020603050405020304" pitchFamily="18" charset="0"/>
              </a:rPr>
              <a:t>Mrs. M.LAKSHMI BAI</a:t>
            </a:r>
          </a:p>
          <a:p>
            <a:pPr algn="just"/>
            <a:r>
              <a:rPr lang="en-US" dirty="0">
                <a:solidFill>
                  <a:schemeClr val="tx1"/>
                </a:solidFill>
                <a:latin typeface="Times New Roman" panose="02020603050405020304" pitchFamily="18" charset="0"/>
                <a:cs typeface="Times New Roman" panose="02020603050405020304" pitchFamily="18" charset="0"/>
              </a:rPr>
              <a:t>ASSOCIATE PROFESSOR</a:t>
            </a:r>
          </a:p>
          <a:p>
            <a:pPr algn="just"/>
            <a:r>
              <a:rPr lang="en-US" b="1" dirty="0">
                <a:solidFill>
                  <a:schemeClr val="tx1"/>
                </a:solidFill>
                <a:latin typeface="Times New Roman" panose="02020603050405020304" pitchFamily="18" charset="0"/>
                <a:cs typeface="Times New Roman" panose="02020603050405020304" pitchFamily="18" charset="0"/>
              </a:rPr>
              <a:t>HEAD OF THE DEPARTMENT:</a:t>
            </a:r>
          </a:p>
          <a:p>
            <a:pPr algn="just"/>
            <a:r>
              <a:rPr lang="en-US" dirty="0">
                <a:solidFill>
                  <a:schemeClr val="tx1"/>
                </a:solidFill>
                <a:latin typeface="Times New Roman" panose="02020603050405020304" pitchFamily="18" charset="0"/>
                <a:cs typeface="Times New Roman" panose="02020603050405020304" pitchFamily="18" charset="0"/>
              </a:rPr>
              <a:t>Mr. DR.SREERAM INDRANEEL</a:t>
            </a:r>
          </a:p>
          <a:p>
            <a:pPr algn="just"/>
            <a:r>
              <a:rPr lang="en-US">
                <a:solidFill>
                  <a:schemeClr val="tx1"/>
                </a:solidFill>
                <a:latin typeface="Times New Roman" panose="02020603050405020304" pitchFamily="18" charset="0"/>
                <a:cs typeface="Times New Roman" panose="02020603050405020304" pitchFamily="18" charset="0"/>
              </a:rPr>
              <a:t>PROFESSOR</a:t>
            </a:r>
            <a:endParaRPr lang="en-US" dirty="0">
              <a:solidFill>
                <a:schemeClr val="tx1"/>
              </a:solidFill>
              <a:latin typeface="Times New Roman" panose="02020603050405020304" pitchFamily="18" charset="0"/>
              <a:cs typeface="Times New Roman" panose="02020603050405020304" pitchFamily="18" charset="0"/>
            </a:endParaRPr>
          </a:p>
          <a:p>
            <a:endParaRPr lang="en-US" dirty="0"/>
          </a:p>
        </p:txBody>
      </p:sp>
      <p:pic>
        <p:nvPicPr>
          <p:cNvPr id="6146" name="Picture 2" descr="About our College – SACET">
            <a:extLst>
              <a:ext uri="{FF2B5EF4-FFF2-40B4-BE49-F238E27FC236}">
                <a16:creationId xmlns:a16="http://schemas.microsoft.com/office/drawing/2014/main" id="{A2D417A4-48C5-6F24-B90A-05B5DFC735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9208" y="334490"/>
            <a:ext cx="1679010" cy="1615439"/>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4198757-A073-BFA6-8020-FD4EAFD2F7F7}"/>
              </a:ext>
            </a:extLst>
          </p:cNvPr>
          <p:cNvSpPr txBox="1"/>
          <p:nvPr/>
        </p:nvSpPr>
        <p:spPr>
          <a:xfrm>
            <a:off x="7300610" y="4205748"/>
            <a:ext cx="4592975" cy="178510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PRESENTED BY:</a:t>
            </a:r>
          </a:p>
          <a:p>
            <a:r>
              <a:rPr lang="en-US" sz="1500" dirty="0">
                <a:latin typeface="Times New Roman" panose="02020603050405020304" pitchFamily="18" charset="0"/>
                <a:cs typeface="Times New Roman" panose="02020603050405020304" pitchFamily="18" charset="0"/>
              </a:rPr>
              <a:t>1. BANDLA KRISHNA PRIYA-(22F01A4606)</a:t>
            </a:r>
          </a:p>
          <a:p>
            <a:r>
              <a:rPr lang="en-US" sz="1500" dirty="0">
                <a:latin typeface="Times New Roman" panose="02020603050405020304" pitchFamily="18" charset="0"/>
                <a:cs typeface="Times New Roman" panose="02020603050405020304" pitchFamily="18" charset="0"/>
              </a:rPr>
              <a:t>2. BONIGALA NANDINI-(22F01A4610)</a:t>
            </a:r>
          </a:p>
          <a:p>
            <a:r>
              <a:rPr lang="en-US" sz="1500" dirty="0">
                <a:latin typeface="Times New Roman" panose="02020603050405020304" pitchFamily="18" charset="0"/>
                <a:cs typeface="Times New Roman" panose="02020603050405020304" pitchFamily="18" charset="0"/>
              </a:rPr>
              <a:t>3. </a:t>
            </a:r>
            <a:r>
              <a:rPr lang="en-US" sz="1500">
                <a:latin typeface="Times New Roman" panose="02020603050405020304" pitchFamily="18" charset="0"/>
                <a:cs typeface="Times New Roman" panose="02020603050405020304" pitchFamily="18" charset="0"/>
              </a:rPr>
              <a:t>BATTULA </a:t>
            </a:r>
            <a:r>
              <a:rPr lang="en-US" sz="1500" dirty="0">
                <a:latin typeface="Times New Roman" panose="02020603050405020304" pitchFamily="18" charset="0"/>
                <a:cs typeface="Times New Roman" panose="02020603050405020304" pitchFamily="18" charset="0"/>
              </a:rPr>
              <a:t>YUVA DURGA-(22F01A4607)</a:t>
            </a:r>
          </a:p>
          <a:p>
            <a:r>
              <a:rPr lang="en-US" sz="1500" dirty="0">
                <a:latin typeface="Times New Roman" panose="02020603050405020304" pitchFamily="18" charset="0"/>
                <a:cs typeface="Times New Roman" panose="02020603050405020304" pitchFamily="18" charset="0"/>
              </a:rPr>
              <a:t>4. ASODI KEERTHI REDDY-(22F01A4603)</a:t>
            </a:r>
          </a:p>
          <a:p>
            <a:r>
              <a:rPr lang="en-US" sz="1500" dirty="0">
                <a:latin typeface="Times New Roman" panose="02020603050405020304" pitchFamily="18" charset="0"/>
                <a:cs typeface="Times New Roman" panose="02020603050405020304" pitchFamily="18" charset="0"/>
              </a:rPr>
              <a:t>5. SHAIK SABEEHA-(22F01A4660)</a:t>
            </a:r>
          </a:p>
          <a:p>
            <a:endParaRPr lang="en-US" dirty="0"/>
          </a:p>
        </p:txBody>
      </p:sp>
    </p:spTree>
    <p:extLst>
      <p:ext uri="{BB962C8B-B14F-4D97-AF65-F5344CB8AC3E}">
        <p14:creationId xmlns:p14="http://schemas.microsoft.com/office/powerpoint/2010/main" val="2586993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FA3689E-8C76-4AA5-9991-F62B8A7CFC2B}"/>
              </a:ext>
            </a:extLst>
          </p:cNvPr>
          <p:cNvSpPr txBox="1"/>
          <p:nvPr/>
        </p:nvSpPr>
        <p:spPr>
          <a:xfrm>
            <a:off x="3696929" y="255638"/>
            <a:ext cx="5034116"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LIST OF CONTENTS</a:t>
            </a:r>
          </a:p>
        </p:txBody>
      </p:sp>
      <p:sp>
        <p:nvSpPr>
          <p:cNvPr id="8" name="TextBox 7">
            <a:extLst>
              <a:ext uri="{FF2B5EF4-FFF2-40B4-BE49-F238E27FC236}">
                <a16:creationId xmlns:a16="http://schemas.microsoft.com/office/drawing/2014/main" id="{52AD7D6A-805C-5EEE-E8DA-1FC9582083E4}"/>
              </a:ext>
            </a:extLst>
          </p:cNvPr>
          <p:cNvSpPr txBox="1"/>
          <p:nvPr/>
        </p:nvSpPr>
        <p:spPr>
          <a:xfrm>
            <a:off x="1956619" y="1255931"/>
            <a:ext cx="9606117" cy="5940088"/>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Abstract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Introduction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Literature Survey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Objective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System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Proposed System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Hardware Requirements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Software Requirements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Block Diagram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UML Diagrams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Modules Description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Algorithms used in the project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Implementation and Testing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Conclusion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Future Extension</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202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1648F-0C07-BAAC-A530-E0DCEB51038E}"/>
              </a:ext>
            </a:extLst>
          </p:cNvPr>
          <p:cNvSpPr>
            <a:spLocks noGrp="1"/>
          </p:cNvSpPr>
          <p:nvPr>
            <p:ph type="title"/>
          </p:nvPr>
        </p:nvSpPr>
        <p:spPr>
          <a:xfrm>
            <a:off x="1401498" y="337870"/>
            <a:ext cx="9399548" cy="706590"/>
          </a:xfrm>
        </p:spPr>
        <p:txBody>
          <a:bodyPr>
            <a:normAutofit/>
          </a:bodyPr>
          <a:lstStyle/>
          <a:p>
            <a:pPr algn="ctr"/>
            <a:r>
              <a:rPr lang="en-US" sz="36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4E228BA5-D860-04C7-3A5E-3BA666911673}"/>
              </a:ext>
            </a:extLst>
          </p:cNvPr>
          <p:cNvSpPr txBox="1"/>
          <p:nvPr/>
        </p:nvSpPr>
        <p:spPr>
          <a:xfrm>
            <a:off x="1745536" y="1160976"/>
            <a:ext cx="9055510" cy="5447645"/>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Internet of Medical Things (IoMT) enables real-time healthcare monitoring and personalized treatment through interconnected medical devices however, it is vulnerable to cybersecurity threats such as data falsification and Denial-of-Service (DoS) attacks. Existing machine learning based anomaly detection approaches, including Random Forest, Extreme Gradient Boost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K-Nearest Neighbor (KNN), Support Vector Machine (SVM), and Artificial Neural Networks (ANN), enhance attack detection but suffer from limitations in computational efficiency and adaptability to diverse medical attack scenarios. To overcome these challenges, this work proposes a real-time anomaly detection system based on Light Gradient Boosting Machine (</a:t>
            </a: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A novel medical cybersecurity dataset inspired by UNSW-NB15 and incorporating healthcare-specific attack patterns is developed for evaluation. </a:t>
            </a:r>
          </a:p>
          <a:p>
            <a:endParaRPr lang="en-US" dirty="0"/>
          </a:p>
        </p:txBody>
      </p:sp>
    </p:spTree>
    <p:extLst>
      <p:ext uri="{BB962C8B-B14F-4D97-AF65-F5344CB8AC3E}">
        <p14:creationId xmlns:p14="http://schemas.microsoft.com/office/powerpoint/2010/main" val="2310592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3E9C0-B99F-E5C4-2900-3AF581933A7E}"/>
              </a:ext>
            </a:extLst>
          </p:cNvPr>
          <p:cNvSpPr>
            <a:spLocks noGrp="1"/>
          </p:cNvSpPr>
          <p:nvPr>
            <p:ph type="title"/>
          </p:nvPr>
        </p:nvSpPr>
        <p:spPr>
          <a:xfrm>
            <a:off x="1402326" y="303328"/>
            <a:ext cx="9603658" cy="983225"/>
          </a:xfrm>
        </p:spPr>
        <p:txBody>
          <a:bodyPr>
            <a:normAutofit/>
          </a:bodyPr>
          <a:lstStyle/>
          <a:p>
            <a:pPr algn="ctr"/>
            <a:r>
              <a:rPr lang="en-US" sz="3600" b="1" dirty="0">
                <a:latin typeface="Times New Roman" panose="02020603050405020304" pitchFamily="18" charset="0"/>
                <a:cs typeface="Times New Roman" panose="02020603050405020304" pitchFamily="18" charset="0"/>
              </a:rPr>
              <a:t>INTRODUCTION</a:t>
            </a:r>
          </a:p>
        </p:txBody>
      </p:sp>
      <p:sp>
        <p:nvSpPr>
          <p:cNvPr id="7" name="Content Placeholder 6">
            <a:extLst>
              <a:ext uri="{FF2B5EF4-FFF2-40B4-BE49-F238E27FC236}">
                <a16:creationId xmlns:a16="http://schemas.microsoft.com/office/drawing/2014/main" id="{7BEE51AE-9307-74A7-557E-A32400C98717}"/>
              </a:ext>
            </a:extLst>
          </p:cNvPr>
          <p:cNvSpPr>
            <a:spLocks noGrp="1"/>
          </p:cNvSpPr>
          <p:nvPr>
            <p:ph idx="1"/>
          </p:nvPr>
        </p:nvSpPr>
        <p:spPr>
          <a:xfrm>
            <a:off x="1874274" y="1286553"/>
            <a:ext cx="8915400" cy="3777622"/>
          </a:xfrm>
        </p:spPr>
        <p:txBody>
          <a:bodyPr>
            <a:normAutofit/>
          </a:bodyPr>
          <a:lstStyle/>
          <a:p>
            <a:pPr marL="0"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The Internet of Medical Things (IoMT) has improved healthcare through real-time patient monitoring and smart medical devices. However, the connectivity of these devices also increases the risk of cyber attacks such as worms, reconnaissance, and </a:t>
            </a:r>
            <a:r>
              <a:rPr lang="en-US" sz="2000" dirty="0" err="1">
                <a:solidFill>
                  <a:schemeClr val="tx1"/>
                </a:solidFill>
                <a:latin typeface="Times New Roman" panose="02020603050405020304" pitchFamily="18" charset="0"/>
                <a:cs typeface="Times New Roman" panose="02020603050405020304" pitchFamily="18" charset="0"/>
              </a:rPr>
              <a:t>fuzzers</a:t>
            </a:r>
            <a:r>
              <a:rPr lang="en-US" sz="2000" dirty="0">
                <a:solidFill>
                  <a:schemeClr val="tx1"/>
                </a:solidFill>
                <a:latin typeface="Times New Roman" panose="02020603050405020304" pitchFamily="18" charset="0"/>
                <a:cs typeface="Times New Roman" panose="02020603050405020304" pitchFamily="18" charset="0"/>
              </a:rPr>
              <a:t> attacks. Traditional security methods are not suitable for IoMT due to limited device resources and strict time constraints. To address this issue, this study proposes a real-time anomaly detection system using a stacking ensemble machine learning model trained on healthcare data. The approach improves attack detection accuracy while maintaining low latency, helping to ensure secure and reliable IoMT networks.</a:t>
            </a:r>
          </a:p>
        </p:txBody>
      </p:sp>
    </p:spTree>
    <p:extLst>
      <p:ext uri="{BB962C8B-B14F-4D97-AF65-F5344CB8AC3E}">
        <p14:creationId xmlns:p14="http://schemas.microsoft.com/office/powerpoint/2010/main" val="158970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E3B689-0F2D-6FC2-49C0-AFCCFA32308A}"/>
              </a:ext>
            </a:extLst>
          </p:cNvPr>
          <p:cNvSpPr txBox="1"/>
          <p:nvPr/>
        </p:nvSpPr>
        <p:spPr>
          <a:xfrm>
            <a:off x="3434080" y="133889"/>
            <a:ext cx="6096000" cy="834524"/>
          </a:xfrm>
          <a:prstGeom prst="rect">
            <a:avLst/>
          </a:prstGeom>
          <a:noFill/>
        </p:spPr>
        <p:txBody>
          <a:bodyPr wrap="square">
            <a:spAutoFit/>
          </a:bodyPr>
          <a:lstStyle/>
          <a:p>
            <a:pPr marL="0" marR="0" algn="ctr">
              <a:lnSpc>
                <a:spcPct val="150000"/>
              </a:lnSpc>
              <a:spcAft>
                <a:spcPts val="800"/>
              </a:spcAft>
              <a:buNone/>
            </a:pPr>
            <a:r>
              <a:rPr lang="en-US" sz="3600" b="1" kern="100" dirty="0">
                <a:effectLst/>
                <a:latin typeface="Times New Roman" panose="02020603050405020304" pitchFamily="18" charset="0"/>
                <a:ea typeface="Calibri" panose="020F0502020204030204" pitchFamily="34" charset="0"/>
                <a:cs typeface="Times New Roman" panose="02020603050405020304" pitchFamily="18" charset="0"/>
              </a:rPr>
              <a:t>LITERATURE SURVEY</a:t>
            </a:r>
            <a:endParaRPr lang="en-US"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718A494-8003-3843-552E-66745A9C29DC}"/>
              </a:ext>
            </a:extLst>
          </p:cNvPr>
          <p:cNvSpPr txBox="1"/>
          <p:nvPr/>
        </p:nvSpPr>
        <p:spPr>
          <a:xfrm>
            <a:off x="1371600" y="819359"/>
            <a:ext cx="10220960" cy="5576976"/>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Machine learning techniques such as Random Forest and KNN have shown strong performance in detecting anomalies in healthcare and IoMT data; however, many studies rely on fixed thresholds or simulated datasets, limiting real-world applicability.</a:t>
            </a:r>
            <a:r>
              <a:rPr lang="en-US" sz="2000" b="1" dirty="0">
                <a:latin typeface="Times New Roman" panose="02020603050405020304" pitchFamily="18" charset="0"/>
                <a:cs typeface="Times New Roman" panose="02020603050405020304" pitchFamily="18" charset="0"/>
              </a:rPr>
              <a:t> [1]</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Unsupervised and semi-supervised approaches, including GAN(Generative Adversarial Network)-based labeling and clustering methods (KNN), reduce dependency on labeled data but often lack detailed dataset descriptions and real-time validation.</a:t>
            </a:r>
            <a:r>
              <a:rPr lang="en-US" sz="2000" b="1" dirty="0">
                <a:latin typeface="Times New Roman" panose="02020603050405020304" pitchFamily="18" charset="0"/>
                <a:cs typeface="Times New Roman" panose="02020603050405020304" pitchFamily="18" charset="0"/>
              </a:rPr>
              <a:t> [2]</a:t>
            </a:r>
            <a:r>
              <a:rPr lang="en-US" sz="20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Deep learning models such as CNNs, autoencoders, and stacked architectures achieve high accuracy in IoT anomaly detection, though they frequently suffer from high computational cost and limited explainability.</a:t>
            </a:r>
            <a:r>
              <a:rPr lang="en-US" sz="2000" b="1" dirty="0">
                <a:latin typeface="Times New Roman" panose="02020603050405020304" pitchFamily="18" charset="0"/>
                <a:cs typeface="Times New Roman" panose="02020603050405020304" pitchFamily="18" charset="0"/>
              </a:rPr>
              <a:t> [3]</a:t>
            </a:r>
            <a:r>
              <a:rPr lang="en-US" sz="2000"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Ensemble learning techniques (Bagging, Boosting, Voting, and Stacking) consistently outperform single models in IoMT and IoT intrusion detection but are rarely evaluated in real-time healthcare environments.</a:t>
            </a:r>
            <a:r>
              <a:rPr lang="en-US" sz="2000" b="1" dirty="0">
                <a:latin typeface="Times New Roman" panose="02020603050405020304" pitchFamily="18" charset="0"/>
                <a:cs typeface="Times New Roman" panose="02020603050405020304" pitchFamily="18" charset="0"/>
              </a:rPr>
              <a:t> [4]</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07375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25C9B2-4362-D9B2-2F49-2A9DC2FD6995}"/>
              </a:ext>
            </a:extLst>
          </p:cNvPr>
          <p:cNvSpPr txBox="1"/>
          <p:nvPr/>
        </p:nvSpPr>
        <p:spPr>
          <a:xfrm>
            <a:off x="1432560" y="1190642"/>
            <a:ext cx="10363200" cy="5115311"/>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Many intrusion detection studies rely on widely used general IoT datasets such as Bot-IoT, CICIDS, and UNSW-based datasets to evaluate model performance. Although these datasets effectively represent network-layer attacks, they fail to incorporate medical device behavior, patient physiological data, and healthcare-specific communication patterns. </a:t>
            </a:r>
            <a:r>
              <a:rPr lang="en-US" sz="2000" b="1" dirty="0">
                <a:latin typeface="Times New Roman" panose="02020603050405020304" pitchFamily="18" charset="0"/>
                <a:cs typeface="Times New Roman" panose="02020603050405020304" pitchFamily="18" charset="0"/>
              </a:rPr>
              <a:t>[5]</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significant portion of existing research focuses on detecting specific attack types such as DDoS, botnets, or flooding attacks. While these approaches often achieve high accuracy under controlled conditions, their specialization restricts their ability to generalize across diverse and evolving cyber threats commonly observed in healthcare networks. </a:t>
            </a:r>
            <a:r>
              <a:rPr lang="en-US" sz="2000" b="1" dirty="0">
                <a:latin typeface="Times New Roman" panose="02020603050405020304" pitchFamily="18" charset="0"/>
                <a:cs typeface="Times New Roman" panose="02020603050405020304" pitchFamily="18" charset="0"/>
              </a:rPr>
              <a:t>[6]</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Current literature highlights gaps including lack of comprehensive medical datasets, limited real-time testing, and insufficient integration of healthcare data with network traffic motivating the need for hybrid datasets and robust stacking-based ensemble models.</a:t>
            </a:r>
            <a:r>
              <a:rPr lang="en-US" sz="2000" b="1" dirty="0">
                <a:latin typeface="Times New Roman" panose="02020603050405020304" pitchFamily="18" charset="0"/>
                <a:cs typeface="Times New Roman" panose="02020603050405020304" pitchFamily="18" charset="0"/>
              </a:rPr>
              <a:t> [7]</a:t>
            </a:r>
            <a:r>
              <a:rPr lang="en-US" sz="20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809CBE42-427F-6BC5-2B4E-8DDC11AD899A}"/>
              </a:ext>
            </a:extLst>
          </p:cNvPr>
          <p:cNvSpPr txBox="1"/>
          <p:nvPr/>
        </p:nvSpPr>
        <p:spPr>
          <a:xfrm>
            <a:off x="3566160" y="229100"/>
            <a:ext cx="6096000" cy="834524"/>
          </a:xfrm>
          <a:prstGeom prst="rect">
            <a:avLst/>
          </a:prstGeom>
          <a:noFill/>
        </p:spPr>
        <p:txBody>
          <a:bodyPr wrap="square">
            <a:spAutoFit/>
          </a:bodyPr>
          <a:lstStyle/>
          <a:p>
            <a:pPr marL="0" marR="0" algn="ctr">
              <a:lnSpc>
                <a:spcPct val="150000"/>
              </a:lnSpc>
              <a:spcAft>
                <a:spcPts val="800"/>
              </a:spcAft>
              <a:buNone/>
            </a:pPr>
            <a:r>
              <a:rPr lang="en-US" sz="3600" b="1" kern="100" dirty="0">
                <a:effectLst/>
                <a:latin typeface="Times New Roman" panose="02020603050405020304" pitchFamily="18" charset="0"/>
                <a:ea typeface="Calibri" panose="020F0502020204030204" pitchFamily="34" charset="0"/>
                <a:cs typeface="Times New Roman" panose="02020603050405020304" pitchFamily="18" charset="0"/>
              </a:rPr>
              <a:t>LITERATURE SURVEY</a:t>
            </a:r>
            <a:endParaRPr lang="en-US" sz="3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323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AA1B3-186A-DFF9-9DB3-3650C29E7366}"/>
              </a:ext>
            </a:extLst>
          </p:cNvPr>
          <p:cNvSpPr>
            <a:spLocks noGrp="1"/>
          </p:cNvSpPr>
          <p:nvPr>
            <p:ph type="title"/>
          </p:nvPr>
        </p:nvSpPr>
        <p:spPr>
          <a:xfrm>
            <a:off x="1219199" y="430980"/>
            <a:ext cx="9495503" cy="913069"/>
          </a:xfrm>
        </p:spPr>
        <p:txBody>
          <a:bodyPr>
            <a:normAutofit/>
          </a:bodyPr>
          <a:lstStyle/>
          <a:p>
            <a:pPr algn="ctr"/>
            <a:r>
              <a:rPr lang="en-US" sz="3600" b="1" dirty="0">
                <a:latin typeface="Times New Roman" panose="02020603050405020304" pitchFamily="18" charset="0"/>
                <a:cs typeface="Times New Roman" panose="02020603050405020304" pitchFamily="18" charset="0"/>
              </a:rPr>
              <a:t>OBJECTIVE </a:t>
            </a:r>
          </a:p>
        </p:txBody>
      </p:sp>
      <p:sp>
        <p:nvSpPr>
          <p:cNvPr id="9" name="TextBox 8">
            <a:extLst>
              <a:ext uri="{FF2B5EF4-FFF2-40B4-BE49-F238E27FC236}">
                <a16:creationId xmlns:a16="http://schemas.microsoft.com/office/drawing/2014/main" id="{6010E3BD-C674-87C9-C696-1970FD1AF9D5}"/>
              </a:ext>
            </a:extLst>
          </p:cNvPr>
          <p:cNvSpPr txBox="1"/>
          <p:nvPr/>
        </p:nvSpPr>
        <p:spPr>
          <a:xfrm>
            <a:off x="1740310" y="1226061"/>
            <a:ext cx="8711380" cy="2677656"/>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To analyze security vulnerabilities and attack patterns in IoMT networks using real-world healthcare traffic data. It focuses on identifying threats that affect data integrity, confidentiality, and availability, while pre-processing and evaluating a healthcare-specific dataset to ensure balanced and relevant features for effective anomaly detection.</a:t>
            </a:r>
          </a:p>
          <a:p>
            <a:endParaRPr lang="en-US" dirty="0"/>
          </a:p>
        </p:txBody>
      </p:sp>
    </p:spTree>
    <p:extLst>
      <p:ext uri="{BB962C8B-B14F-4D97-AF65-F5344CB8AC3E}">
        <p14:creationId xmlns:p14="http://schemas.microsoft.com/office/powerpoint/2010/main" val="514008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E8E2E-D39E-959A-B870-E6C5EFFEC6CD}"/>
              </a:ext>
            </a:extLst>
          </p:cNvPr>
          <p:cNvSpPr>
            <a:spLocks noGrp="1"/>
          </p:cNvSpPr>
          <p:nvPr>
            <p:ph type="title"/>
          </p:nvPr>
        </p:nvSpPr>
        <p:spPr>
          <a:xfrm>
            <a:off x="1799304" y="372003"/>
            <a:ext cx="9200535" cy="1317062"/>
          </a:xfrm>
        </p:spPr>
        <p:txBody>
          <a:bodyPr>
            <a:normAutofit/>
          </a:bodyPr>
          <a:lstStyle/>
          <a:p>
            <a:pPr algn="ctr"/>
            <a:r>
              <a:rPr lang="en-US" sz="3600" b="1" dirty="0">
                <a:latin typeface="Times New Roman" panose="02020603050405020304" pitchFamily="18" charset="0"/>
                <a:cs typeface="Times New Roman" panose="02020603050405020304" pitchFamily="18" charset="0"/>
              </a:rPr>
              <a:t>EXISTING SYSTEM</a:t>
            </a:r>
          </a:p>
        </p:txBody>
      </p:sp>
      <p:sp>
        <p:nvSpPr>
          <p:cNvPr id="5" name="Rectangle 2">
            <a:extLst>
              <a:ext uri="{FF2B5EF4-FFF2-40B4-BE49-F238E27FC236}">
                <a16:creationId xmlns:a16="http://schemas.microsoft.com/office/drawing/2014/main" id="{0A7AFA87-1EC2-8724-6F63-800BDAACBDF4}"/>
              </a:ext>
            </a:extLst>
          </p:cNvPr>
          <p:cNvSpPr>
            <a:spLocks noGrp="1" noChangeArrowheads="1"/>
          </p:cNvSpPr>
          <p:nvPr>
            <p:ph idx="1"/>
          </p:nvPr>
        </p:nvSpPr>
        <p:spPr bwMode="auto">
          <a:xfrm>
            <a:off x="1651820" y="1030534"/>
            <a:ext cx="8888359" cy="553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b="1" dirty="0">
                <a:solidFill>
                  <a:schemeClr val="tx1"/>
                </a:solidFill>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(RF):</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Ensemble of decision trees for accurate classification.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Extreme Gradient Boost(</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Fast gradient boosting algorithm for high</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performance detection.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K-Nearest Neighbor (KNN):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Classifies data based on nearest neighbors.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Support Vector Machine (SVM):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Separates classes using an optimal hyperplane.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Artificial Neural Network (ANN):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Neural network model for learning complex</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patterns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lvl="0" indent="0" algn="just" defTabSz="914400" eaLnBrk="0" fontAlgn="base" hangingPunct="0">
              <a:lnSpc>
                <a:spcPct val="150000"/>
              </a:lnSpc>
              <a:spcBef>
                <a:spcPct val="0"/>
              </a:spcBef>
              <a:spcAft>
                <a:spcPct val="0"/>
              </a:spcAft>
              <a:buClrTx/>
              <a:buFontTx/>
              <a:buChar char="•"/>
            </a:pPr>
            <a:r>
              <a:rPr lang="en-US" altLang="en-US" sz="2000" b="1" dirty="0">
                <a:solidFill>
                  <a:schemeClr val="tx1"/>
                </a:solidFill>
                <a:latin typeface="Times New Roman" panose="02020603050405020304" pitchFamily="18" charset="0"/>
                <a:cs typeface="Times New Roman" panose="02020603050405020304" pitchFamily="18" charset="0"/>
              </a:rPr>
              <a:t>Logistic </a:t>
            </a:r>
            <a:r>
              <a:rPr lang="en-US" altLang="en-US" sz="2000" b="1" dirty="0" err="1">
                <a:solidFill>
                  <a:schemeClr val="tx1"/>
                </a:solidFill>
                <a:latin typeface="Times New Roman" panose="02020603050405020304" pitchFamily="18" charset="0"/>
                <a:cs typeface="Times New Roman" panose="02020603050405020304" pitchFamily="18" charset="0"/>
              </a:rPr>
              <a:t>Regression:</a:t>
            </a:r>
            <a:r>
              <a:rPr lang="en-US" altLang="en-US" sz="2000" dirty="0" err="1">
                <a:solidFill>
                  <a:schemeClr val="tx1"/>
                </a:solidFill>
                <a:latin typeface="Times New Roman" panose="02020603050405020304" pitchFamily="18" charset="0"/>
                <a:cs typeface="Times New Roman" panose="02020603050405020304" pitchFamily="18" charset="0"/>
              </a:rPr>
              <a:t>A</a:t>
            </a:r>
            <a:r>
              <a:rPr lang="en-US" altLang="en-US" sz="2000" dirty="0">
                <a:solidFill>
                  <a:schemeClr val="tx1"/>
                </a:solidFill>
                <a:latin typeface="Times New Roman" panose="02020603050405020304" pitchFamily="18" charset="0"/>
                <a:cs typeface="Times New Roman" panose="02020603050405020304" pitchFamily="18" charset="0"/>
              </a:rPr>
              <a:t> method used to classify data in to two Categories ,loke yes/No or Pass/Fail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Isolation Forest: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technique used to find unusual or abnormal data points in a dataset</a:t>
            </a: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64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51B2B-6B69-A331-A63B-1DFB05F35694}"/>
              </a:ext>
            </a:extLst>
          </p:cNvPr>
          <p:cNvSpPr>
            <a:spLocks noGrp="1"/>
          </p:cNvSpPr>
          <p:nvPr>
            <p:ph type="title"/>
          </p:nvPr>
        </p:nvSpPr>
        <p:spPr>
          <a:xfrm>
            <a:off x="1914500" y="270149"/>
            <a:ext cx="8911687" cy="1280890"/>
          </a:xfrm>
        </p:spPr>
        <p:txBody>
          <a:bodyPr>
            <a:normAutofit/>
          </a:bodyPr>
          <a:lstStyle/>
          <a:p>
            <a:pPr algn="ctr"/>
            <a:r>
              <a:rPr lang="en-US" b="1" dirty="0">
                <a:latin typeface="Times New Roman" panose="02020603050405020304" pitchFamily="18" charset="0"/>
                <a:cs typeface="Times New Roman" panose="02020603050405020304" pitchFamily="18" charset="0"/>
              </a:rPr>
              <a:t>P</a:t>
            </a:r>
            <a:r>
              <a:rPr lang="en-US" sz="3600" b="1" dirty="0">
                <a:latin typeface="Times New Roman" panose="02020603050405020304" pitchFamily="18" charset="0"/>
                <a:cs typeface="Times New Roman" panose="02020603050405020304" pitchFamily="18" charset="0"/>
              </a:rPr>
              <a:t>ROPOSED SYSTEM</a:t>
            </a:r>
          </a:p>
        </p:txBody>
      </p:sp>
      <p:sp>
        <p:nvSpPr>
          <p:cNvPr id="3" name="Content Placeholder 2">
            <a:extLst>
              <a:ext uri="{FF2B5EF4-FFF2-40B4-BE49-F238E27FC236}">
                <a16:creationId xmlns:a16="http://schemas.microsoft.com/office/drawing/2014/main" id="{BC5C6A13-F80A-9C40-E98C-7E811D8CBCAD}"/>
              </a:ext>
            </a:extLst>
          </p:cNvPr>
          <p:cNvSpPr>
            <a:spLocks noGrp="1"/>
          </p:cNvSpPr>
          <p:nvPr>
            <p:ph idx="1"/>
          </p:nvPr>
        </p:nvSpPr>
        <p:spPr>
          <a:xfrm>
            <a:off x="1792799" y="1285568"/>
            <a:ext cx="8915400" cy="3777622"/>
          </a:xfrm>
        </p:spPr>
        <p:txBody>
          <a:bodyPr/>
          <a:lstStyle/>
          <a:p>
            <a:pPr marL="0" indent="0" algn="just">
              <a:buNone/>
            </a:pPr>
            <a:r>
              <a:rPr lang="en-US" sz="2000" b="1" dirty="0">
                <a:solidFill>
                  <a:schemeClr val="tx1"/>
                </a:solidFill>
                <a:latin typeface="Times New Roman" panose="02020603050405020304" pitchFamily="18" charset="0"/>
                <a:cs typeface="Times New Roman" panose="02020603050405020304" pitchFamily="18" charset="0"/>
              </a:rPr>
              <a:t>Light Gradient Boosting Machine (</a:t>
            </a:r>
            <a:r>
              <a:rPr lang="en-US" sz="2000" b="1" dirty="0" err="1">
                <a:solidFill>
                  <a:schemeClr val="tx1"/>
                </a:solidFill>
                <a:latin typeface="Times New Roman" panose="02020603050405020304" pitchFamily="18" charset="0"/>
                <a:cs typeface="Times New Roman" panose="02020603050405020304" pitchFamily="18" charset="0"/>
              </a:rPr>
              <a:t>LightGBM</a:t>
            </a:r>
            <a:r>
              <a:rPr lang="en-US" sz="2000" b="1" dirty="0">
                <a:solidFill>
                  <a:schemeClr val="tx1"/>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is a fast and efficient machine learning algorithm that uses decision trees to make accurate predictions. It is designed to handle large datasets with high speed and low memory usage, and it is commonly used for classification and regression tasks.</a:t>
            </a:r>
          </a:p>
          <a:p>
            <a:pPr marL="0" indent="0" algn="just">
              <a:buNone/>
            </a:pPr>
            <a:endParaRPr lang="en-US" dirty="0"/>
          </a:p>
        </p:txBody>
      </p:sp>
    </p:spTree>
    <p:extLst>
      <p:ext uri="{BB962C8B-B14F-4D97-AF65-F5344CB8AC3E}">
        <p14:creationId xmlns:p14="http://schemas.microsoft.com/office/powerpoint/2010/main" val="2938320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4BEBF-B267-099E-7311-1E447467F2CC}"/>
              </a:ext>
            </a:extLst>
          </p:cNvPr>
          <p:cNvSpPr>
            <a:spLocks noGrp="1"/>
          </p:cNvSpPr>
          <p:nvPr>
            <p:ph type="title"/>
          </p:nvPr>
        </p:nvSpPr>
        <p:spPr>
          <a:xfrm>
            <a:off x="2005780" y="253181"/>
            <a:ext cx="9545893" cy="1130249"/>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HARDWARE REQUIREMENTS </a:t>
            </a:r>
            <a:br>
              <a:rPr lang="en-US" b="1" dirty="0"/>
            </a:br>
            <a:endParaRPr lang="en-US" b="1" dirty="0"/>
          </a:p>
        </p:txBody>
      </p:sp>
      <p:graphicFrame>
        <p:nvGraphicFramePr>
          <p:cNvPr id="4" name="Content Placeholder 3">
            <a:extLst>
              <a:ext uri="{FF2B5EF4-FFF2-40B4-BE49-F238E27FC236}">
                <a16:creationId xmlns:a16="http://schemas.microsoft.com/office/drawing/2014/main" id="{A3281826-BACD-6E55-AA6C-866131B388FE}"/>
              </a:ext>
            </a:extLst>
          </p:cNvPr>
          <p:cNvGraphicFramePr>
            <a:graphicFrameLocks noGrp="1"/>
          </p:cNvGraphicFramePr>
          <p:nvPr>
            <p:ph idx="1"/>
            <p:extLst>
              <p:ext uri="{D42A27DB-BD31-4B8C-83A1-F6EECF244321}">
                <p14:modId xmlns:p14="http://schemas.microsoft.com/office/powerpoint/2010/main" val="3697987082"/>
              </p:ext>
            </p:extLst>
          </p:nvPr>
        </p:nvGraphicFramePr>
        <p:xfrm>
          <a:off x="2684206" y="1911428"/>
          <a:ext cx="7993626" cy="3035144"/>
        </p:xfrm>
        <a:graphic>
          <a:graphicData uri="http://schemas.openxmlformats.org/drawingml/2006/table">
            <a:tbl>
              <a:tblPr firstRow="1" firstCol="1" bandRow="1">
                <a:tableStyleId>{5C22544A-7EE6-4342-B048-85BDC9FD1C3A}</a:tableStyleId>
              </a:tblPr>
              <a:tblGrid>
                <a:gridCol w="2209883">
                  <a:extLst>
                    <a:ext uri="{9D8B030D-6E8A-4147-A177-3AD203B41FA5}">
                      <a16:colId xmlns:a16="http://schemas.microsoft.com/office/drawing/2014/main" val="3336762185"/>
                    </a:ext>
                  </a:extLst>
                </a:gridCol>
                <a:gridCol w="2264119">
                  <a:extLst>
                    <a:ext uri="{9D8B030D-6E8A-4147-A177-3AD203B41FA5}">
                      <a16:colId xmlns:a16="http://schemas.microsoft.com/office/drawing/2014/main" val="2408430417"/>
                    </a:ext>
                  </a:extLst>
                </a:gridCol>
                <a:gridCol w="3519624">
                  <a:extLst>
                    <a:ext uri="{9D8B030D-6E8A-4147-A177-3AD203B41FA5}">
                      <a16:colId xmlns:a16="http://schemas.microsoft.com/office/drawing/2014/main" val="1704067998"/>
                    </a:ext>
                  </a:extLst>
                </a:gridCol>
              </a:tblGrid>
              <a:tr h="758786">
                <a:tc gridSpan="2">
                  <a:txBody>
                    <a:bodyPr/>
                    <a:lstStyle/>
                    <a:p>
                      <a:pPr marL="0" marR="0" algn="ctr">
                        <a:lnSpc>
                          <a:spcPct val="107000"/>
                        </a:lnSpc>
                        <a:spcAft>
                          <a:spcPts val="800"/>
                        </a:spcAft>
                        <a:buNone/>
                      </a:pPr>
                      <a:r>
                        <a:rPr lang="en-US" sz="1600" dirty="0">
                          <a:solidFill>
                            <a:schemeClr val="bg1"/>
                          </a:solidFill>
                          <a:effectLst/>
                          <a:latin typeface="Times New Roman" panose="02020603050405020304" pitchFamily="18" charset="0"/>
                          <a:cs typeface="Times New Roman" panose="02020603050405020304" pitchFamily="18" charset="0"/>
                        </a:rPr>
                        <a:t>MINIMUM (Required for Execution)</a:t>
                      </a:r>
                      <a:endParaRPr lang="en-US" sz="16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MY SYSTEM (Development)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47135256"/>
                  </a:ext>
                </a:extLst>
              </a:tr>
              <a:tr h="758786">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System</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i2 processor</a:t>
                      </a:r>
                    </a:p>
                  </a:txBody>
                  <a:tcPr marL="68580" marR="68580"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i5 Processor 12</a:t>
                      </a:r>
                      <a:r>
                        <a:rPr lang="en-US" sz="1600" baseline="30000" dirty="0">
                          <a:effectLst/>
                          <a:latin typeface="Times New Roman" panose="02020603050405020304" pitchFamily="18" charset="0"/>
                          <a:cs typeface="Times New Roman" panose="02020603050405020304" pitchFamily="18" charset="0"/>
                        </a:rPr>
                        <a:t>th</a:t>
                      </a:r>
                      <a:r>
                        <a:rPr lang="en-US" sz="1600" dirty="0">
                          <a:effectLst/>
                          <a:latin typeface="Times New Roman" panose="02020603050405020304" pitchFamily="18" charset="0"/>
                          <a:cs typeface="Times New Roman" panose="02020603050405020304" pitchFamily="18" charset="0"/>
                        </a:rPr>
                        <a:t> Gen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65950211"/>
                  </a:ext>
                </a:extLst>
              </a:tr>
              <a:tr h="758786">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Hard Disk</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20 Gb</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500 Gb</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69731698"/>
                  </a:ext>
                </a:extLst>
              </a:tr>
              <a:tr h="758786">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RAM</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1 Gb</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8 Gb</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37117141"/>
                  </a:ext>
                </a:extLst>
              </a:tr>
            </a:tbl>
          </a:graphicData>
        </a:graphic>
      </p:graphicFrame>
      <p:sp>
        <p:nvSpPr>
          <p:cNvPr id="5" name="Rectangle 1">
            <a:extLst>
              <a:ext uri="{FF2B5EF4-FFF2-40B4-BE49-F238E27FC236}">
                <a16:creationId xmlns:a16="http://schemas.microsoft.com/office/drawing/2014/main" id="{DC682AA7-2BFC-BBF5-44FE-ABCA2996487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85850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A3D2-231E-9A03-F12B-1E4669D8C29E}"/>
              </a:ext>
            </a:extLst>
          </p:cNvPr>
          <p:cNvSpPr>
            <a:spLocks noGrp="1"/>
          </p:cNvSpPr>
          <p:nvPr>
            <p:ph type="title"/>
          </p:nvPr>
        </p:nvSpPr>
        <p:spPr>
          <a:xfrm>
            <a:off x="2936493" y="227934"/>
            <a:ext cx="9699187" cy="1325563"/>
          </a:xfrm>
        </p:spPr>
        <p:txBody>
          <a:bodyPr>
            <a:normAutofit/>
          </a:bodyPr>
          <a:lstStyle/>
          <a:p>
            <a:r>
              <a:rPr lang="en-US" sz="3600" b="1" dirty="0">
                <a:latin typeface="Times New Roman" panose="02020603050405020304" pitchFamily="18" charset="0"/>
                <a:cs typeface="Times New Roman" panose="02020603050405020304" pitchFamily="18" charset="0"/>
              </a:rPr>
              <a:t>SOFTWARE REQUIREMENTS</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380FAF94-2813-E40D-CB40-7C76A1D80CEA}"/>
              </a:ext>
            </a:extLst>
          </p:cNvPr>
          <p:cNvGraphicFramePr>
            <a:graphicFrameLocks noGrp="1"/>
          </p:cNvGraphicFramePr>
          <p:nvPr>
            <p:ph idx="1"/>
            <p:extLst>
              <p:ext uri="{D42A27DB-BD31-4B8C-83A1-F6EECF244321}">
                <p14:modId xmlns:p14="http://schemas.microsoft.com/office/powerpoint/2010/main" val="140706047"/>
              </p:ext>
            </p:extLst>
          </p:nvPr>
        </p:nvGraphicFramePr>
        <p:xfrm>
          <a:off x="1799303" y="1553497"/>
          <a:ext cx="9918290" cy="4195616"/>
        </p:xfrm>
        <a:graphic>
          <a:graphicData uri="http://schemas.openxmlformats.org/drawingml/2006/table">
            <a:tbl>
              <a:tblPr firstRow="1" firstCol="1" bandRow="1">
                <a:tableStyleId>{5C22544A-7EE6-4342-B048-85BDC9FD1C3A}</a:tableStyleId>
              </a:tblPr>
              <a:tblGrid>
                <a:gridCol w="5148176">
                  <a:extLst>
                    <a:ext uri="{9D8B030D-6E8A-4147-A177-3AD203B41FA5}">
                      <a16:colId xmlns:a16="http://schemas.microsoft.com/office/drawing/2014/main" val="3721443719"/>
                    </a:ext>
                  </a:extLst>
                </a:gridCol>
                <a:gridCol w="4770114">
                  <a:extLst>
                    <a:ext uri="{9D8B030D-6E8A-4147-A177-3AD203B41FA5}">
                      <a16:colId xmlns:a16="http://schemas.microsoft.com/office/drawing/2014/main" val="2927782133"/>
                    </a:ext>
                  </a:extLst>
                </a:gridCol>
              </a:tblGrid>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Operating System</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Windows 10/11</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3805369290"/>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Development Software</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Python 3.10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4112239807"/>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Programming Language</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Python</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3233661860"/>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Domain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Machine Learning</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819844586"/>
                  </a:ext>
                </a:extLst>
              </a:tr>
              <a:tr h="368433">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Integrated Development Environment (IDE)</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Visual Studio Code</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1266479096"/>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Front End Technologies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HTML5, CSS3, Java Script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4273745246"/>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Back End Technologies or Framework</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Django</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1683232256"/>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Database Language</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SQL</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120927438"/>
                  </a:ext>
                </a:extLst>
              </a:tr>
              <a:tr h="345875">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Database (RDBMS)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MySQL</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2964592874"/>
                  </a:ext>
                </a:extLst>
              </a:tr>
              <a:tr h="345875">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Database Software</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WAMP or XAMPP Server</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3842783340"/>
                  </a:ext>
                </a:extLst>
              </a:tr>
              <a:tr h="368433">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Web Server or Deployment Server</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Django Application Development Server</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1553580339"/>
                  </a:ext>
                </a:extLst>
              </a:tr>
              <a:tr h="345875">
                <a:tc>
                  <a:txBody>
                    <a:bodyPr/>
                    <a:lstStyle/>
                    <a:p>
                      <a:pPr marL="0" marR="0" algn="ctr">
                        <a:lnSpc>
                          <a:spcPct val="107000"/>
                        </a:lnSpc>
                        <a:spcAft>
                          <a:spcPts val="800"/>
                        </a:spcAft>
                        <a:buNone/>
                      </a:pPr>
                      <a:r>
                        <a:rPr lang="en-US" sz="1600">
                          <a:effectLst/>
                          <a:latin typeface="Times New Roman" panose="02020603050405020304" pitchFamily="18" charset="0"/>
                          <a:cs typeface="Times New Roman" panose="02020603050405020304" pitchFamily="18" charset="0"/>
                        </a:rPr>
                        <a:t>Design/Modelling</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tc>
                  <a:txBody>
                    <a:bodyPr/>
                    <a:lstStyle/>
                    <a:p>
                      <a:pPr marL="0" marR="0" algn="ctr">
                        <a:lnSpc>
                          <a:spcPct val="107000"/>
                        </a:lnSpc>
                        <a:spcAft>
                          <a:spcPts val="800"/>
                        </a:spcAft>
                        <a:buNone/>
                      </a:pPr>
                      <a:r>
                        <a:rPr lang="en-US" sz="1600" dirty="0">
                          <a:effectLst/>
                          <a:latin typeface="Times New Roman" panose="02020603050405020304" pitchFamily="18" charset="0"/>
                          <a:cs typeface="Times New Roman" panose="02020603050405020304" pitchFamily="18" charset="0"/>
                        </a:rPr>
                        <a:t>Rational Rose</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359" marR="58359" marT="0" marB="0" anchor="ctr"/>
                </a:tc>
                <a:extLst>
                  <a:ext uri="{0D108BD9-81ED-4DB2-BD59-A6C34878D82A}">
                    <a16:rowId xmlns:a16="http://schemas.microsoft.com/office/drawing/2014/main" val="2150888808"/>
                  </a:ext>
                </a:extLst>
              </a:tr>
            </a:tbl>
          </a:graphicData>
        </a:graphic>
      </p:graphicFrame>
      <p:sp>
        <p:nvSpPr>
          <p:cNvPr id="5" name="Rectangle 1">
            <a:extLst>
              <a:ext uri="{FF2B5EF4-FFF2-40B4-BE49-F238E27FC236}">
                <a16:creationId xmlns:a16="http://schemas.microsoft.com/office/drawing/2014/main" id="{7BEF72AE-C5F9-D86B-E775-EBF0DC2616B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260572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045308AA-F136-CC5B-4870-3628D9AA0D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C85C08DA-CD47-7BAB-607B-A79483FD99F9}"/>
              </a:ext>
            </a:extLst>
          </p:cNvPr>
          <p:cNvSpPr txBox="1"/>
          <p:nvPr/>
        </p:nvSpPr>
        <p:spPr>
          <a:xfrm>
            <a:off x="4264969" y="339048"/>
            <a:ext cx="431025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BLOCK DIAGRAM</a:t>
            </a:r>
          </a:p>
        </p:txBody>
      </p:sp>
      <p:pic>
        <p:nvPicPr>
          <p:cNvPr id="12" name="Picture 11">
            <a:extLst>
              <a:ext uri="{FF2B5EF4-FFF2-40B4-BE49-F238E27FC236}">
                <a16:creationId xmlns:a16="http://schemas.microsoft.com/office/drawing/2014/main" id="{ECED7060-493E-53E4-1765-EA153FAF0C3D}"/>
              </a:ext>
            </a:extLst>
          </p:cNvPr>
          <p:cNvPicPr>
            <a:picLocks noChangeAspect="1"/>
          </p:cNvPicPr>
          <p:nvPr/>
        </p:nvPicPr>
        <p:blipFill>
          <a:blip r:embed="rId2"/>
          <a:stretch>
            <a:fillRect/>
          </a:stretch>
        </p:blipFill>
        <p:spPr>
          <a:xfrm>
            <a:off x="1714500" y="862268"/>
            <a:ext cx="10477500" cy="5995731"/>
          </a:xfrm>
          <a:prstGeom prst="rect">
            <a:avLst/>
          </a:prstGeom>
        </p:spPr>
      </p:pic>
    </p:spTree>
    <p:extLst>
      <p:ext uri="{BB962C8B-B14F-4D97-AF65-F5344CB8AC3E}">
        <p14:creationId xmlns:p14="http://schemas.microsoft.com/office/powerpoint/2010/main" val="3289730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BC896-7C00-7A5D-39FE-37D95D8DECE2}"/>
              </a:ext>
            </a:extLst>
          </p:cNvPr>
          <p:cNvSpPr txBox="1"/>
          <p:nvPr/>
        </p:nvSpPr>
        <p:spPr>
          <a:xfrm>
            <a:off x="3354767" y="261357"/>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UML DIAGRAMS</a:t>
            </a:r>
          </a:p>
        </p:txBody>
      </p:sp>
      <p:sp>
        <p:nvSpPr>
          <p:cNvPr id="5" name="TextBox 4">
            <a:extLst>
              <a:ext uri="{FF2B5EF4-FFF2-40B4-BE49-F238E27FC236}">
                <a16:creationId xmlns:a16="http://schemas.microsoft.com/office/drawing/2014/main" id="{2A8D77C9-C306-884D-CAA6-4DF03E114950}"/>
              </a:ext>
            </a:extLst>
          </p:cNvPr>
          <p:cNvSpPr txBox="1"/>
          <p:nvPr/>
        </p:nvSpPr>
        <p:spPr>
          <a:xfrm>
            <a:off x="897357" y="1563840"/>
            <a:ext cx="4175760" cy="373031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 class diagram represents the </a:t>
            </a:r>
            <a:r>
              <a:rPr lang="en-US" sz="2000" b="1" dirty="0">
                <a:latin typeface="Times New Roman" panose="02020603050405020304" pitchFamily="18" charset="0"/>
                <a:cs typeface="Times New Roman" panose="02020603050405020304" pitchFamily="18" charset="0"/>
              </a:rPr>
              <a:t>static structure of a system</a:t>
            </a:r>
            <a:r>
              <a:rPr lang="en-US" sz="2000" dirty="0">
                <a:latin typeface="Times New Roman" panose="02020603050405020304" pitchFamily="18" charset="0"/>
                <a:cs typeface="Times New Roman" panose="02020603050405020304" pitchFamily="18" charset="0"/>
              </a:rPr>
              <a:t> by illustrating its classes, attributes, methods, and relationships. It provides a blueprint of how data and functionality are encapsulated within the system and how different components are logically connected. </a:t>
            </a:r>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6FEA284-1B4C-C4C2-9F67-646C0F98C7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0594" y="1003916"/>
            <a:ext cx="6851677" cy="5622190"/>
          </a:xfrm>
          <a:prstGeom prst="rect">
            <a:avLst/>
          </a:prstGeom>
        </p:spPr>
      </p:pic>
      <p:sp>
        <p:nvSpPr>
          <p:cNvPr id="8" name="TextBox 7">
            <a:extLst>
              <a:ext uri="{FF2B5EF4-FFF2-40B4-BE49-F238E27FC236}">
                <a16:creationId xmlns:a16="http://schemas.microsoft.com/office/drawing/2014/main" id="{D8D60735-2175-5656-3FA6-5363DCBC33AA}"/>
              </a:ext>
            </a:extLst>
          </p:cNvPr>
          <p:cNvSpPr txBox="1"/>
          <p:nvPr/>
        </p:nvSpPr>
        <p:spPr>
          <a:xfrm>
            <a:off x="1584960" y="907688"/>
            <a:ext cx="6096000" cy="369332"/>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rPr>
              <a:t>CLASS DIAGRAM </a:t>
            </a:r>
            <a:endParaRPr lang="en-US" sz="1800" dirty="0"/>
          </a:p>
        </p:txBody>
      </p:sp>
    </p:spTree>
    <p:extLst>
      <p:ext uri="{BB962C8B-B14F-4D97-AF65-F5344CB8AC3E}">
        <p14:creationId xmlns:p14="http://schemas.microsoft.com/office/powerpoint/2010/main" val="163733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FA690F-EF00-4F6A-2C50-5D9B29D7B3D1}"/>
              </a:ext>
            </a:extLst>
          </p:cNvPr>
          <p:cNvSpPr txBox="1"/>
          <p:nvPr/>
        </p:nvSpPr>
        <p:spPr>
          <a:xfrm>
            <a:off x="1705241" y="841966"/>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STATE DIAGRAM</a:t>
            </a:r>
          </a:p>
        </p:txBody>
      </p:sp>
      <p:sp>
        <p:nvSpPr>
          <p:cNvPr id="5" name="TextBox 4">
            <a:extLst>
              <a:ext uri="{FF2B5EF4-FFF2-40B4-BE49-F238E27FC236}">
                <a16:creationId xmlns:a16="http://schemas.microsoft.com/office/drawing/2014/main" id="{9665F749-8F86-28FC-4976-0F2D38D47CB7}"/>
              </a:ext>
            </a:extLst>
          </p:cNvPr>
          <p:cNvSpPr txBox="1"/>
          <p:nvPr/>
        </p:nvSpPr>
        <p:spPr>
          <a:xfrm>
            <a:off x="1036648" y="1518958"/>
            <a:ext cx="3952240" cy="326865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 state diagram is a type of UML (Unified Modeling Language) diagram that shows the different states that the system (or a component of it) can be in, along with the transitions between those states based on events or conditions. </a:t>
            </a:r>
          </a:p>
        </p:txBody>
      </p:sp>
      <p:pic>
        <p:nvPicPr>
          <p:cNvPr id="6" name="Picture 5">
            <a:extLst>
              <a:ext uri="{FF2B5EF4-FFF2-40B4-BE49-F238E27FC236}">
                <a16:creationId xmlns:a16="http://schemas.microsoft.com/office/drawing/2014/main" id="{3B26A2E0-B8FC-BD76-19FF-CD211E1A5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2942" y="137652"/>
            <a:ext cx="7089058" cy="6720348"/>
          </a:xfrm>
          <a:prstGeom prst="rect">
            <a:avLst/>
          </a:prstGeom>
        </p:spPr>
      </p:pic>
    </p:spTree>
    <p:extLst>
      <p:ext uri="{BB962C8B-B14F-4D97-AF65-F5344CB8AC3E}">
        <p14:creationId xmlns:p14="http://schemas.microsoft.com/office/powerpoint/2010/main" val="3153938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F6AF53-6E50-BA64-0083-29DA4A7F81CE}"/>
              </a:ext>
            </a:extLst>
          </p:cNvPr>
          <p:cNvSpPr txBox="1"/>
          <p:nvPr/>
        </p:nvSpPr>
        <p:spPr>
          <a:xfrm>
            <a:off x="1850759" y="683850"/>
            <a:ext cx="60960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SEQUENCE DIAGRAM</a:t>
            </a:r>
          </a:p>
        </p:txBody>
      </p:sp>
      <p:pic>
        <p:nvPicPr>
          <p:cNvPr id="5" name="Picture 4">
            <a:extLst>
              <a:ext uri="{FF2B5EF4-FFF2-40B4-BE49-F238E27FC236}">
                <a16:creationId xmlns:a16="http://schemas.microsoft.com/office/drawing/2014/main" id="{3922554D-40FC-15EE-6679-59634AFE82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5622" y="1200666"/>
            <a:ext cx="10836378" cy="5510981"/>
          </a:xfrm>
          <a:prstGeom prst="rect">
            <a:avLst/>
          </a:prstGeom>
        </p:spPr>
      </p:pic>
    </p:spTree>
    <p:extLst>
      <p:ext uri="{BB962C8B-B14F-4D97-AF65-F5344CB8AC3E}">
        <p14:creationId xmlns:p14="http://schemas.microsoft.com/office/powerpoint/2010/main" val="3878555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29F023-CDC5-CA1F-9662-229E407E0FB3}"/>
              </a:ext>
            </a:extLst>
          </p:cNvPr>
          <p:cNvSpPr txBox="1"/>
          <p:nvPr/>
        </p:nvSpPr>
        <p:spPr>
          <a:xfrm>
            <a:off x="1686560" y="780534"/>
            <a:ext cx="6096000" cy="369332"/>
          </a:xfrm>
          <a:prstGeom prst="rect">
            <a:avLst/>
          </a:prstGeom>
          <a:noFill/>
        </p:spPr>
        <p:txBody>
          <a:bodyPr wrap="square">
            <a:spAutoFit/>
          </a:bodyPr>
          <a:lstStyle/>
          <a:p>
            <a:r>
              <a:rPr lang="en-US" sz="1800" b="1">
                <a:effectLst/>
                <a:latin typeface="Times New Roman" panose="02020603050405020304" pitchFamily="18" charset="0"/>
                <a:ea typeface="Calibri" panose="020F0502020204030204" pitchFamily="34" charset="0"/>
              </a:rPr>
              <a:t>ACTIVITY DIAGRAM </a:t>
            </a:r>
            <a:endParaRPr lang="en-US" sz="1800" dirty="0"/>
          </a:p>
        </p:txBody>
      </p:sp>
      <p:sp>
        <p:nvSpPr>
          <p:cNvPr id="5" name="TextBox 4">
            <a:extLst>
              <a:ext uri="{FF2B5EF4-FFF2-40B4-BE49-F238E27FC236}">
                <a16:creationId xmlns:a16="http://schemas.microsoft.com/office/drawing/2014/main" id="{018F2BD7-E532-51F4-4CDE-6BD414785355}"/>
              </a:ext>
            </a:extLst>
          </p:cNvPr>
          <p:cNvSpPr txBox="1"/>
          <p:nvPr/>
        </p:nvSpPr>
        <p:spPr>
          <a:xfrm>
            <a:off x="1204780" y="1326883"/>
            <a:ext cx="4023360" cy="511531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An activity diagram represents the </a:t>
            </a:r>
            <a:r>
              <a:rPr lang="en-US" sz="2000" b="1" dirty="0">
                <a:latin typeface="Times New Roman" panose="02020603050405020304" pitchFamily="18" charset="0"/>
                <a:cs typeface="Times New Roman" panose="02020603050405020304" pitchFamily="18" charset="0"/>
              </a:rPr>
              <a:t>workflow of activities and decision points</a:t>
            </a:r>
            <a:r>
              <a:rPr lang="en-US" sz="2000" dirty="0">
                <a:latin typeface="Times New Roman" panose="02020603050405020304" pitchFamily="18" charset="0"/>
                <a:cs typeface="Times New Roman" panose="02020603050405020304" pitchFamily="18" charset="0"/>
              </a:rPr>
              <a:t> within a system. It focuses on the sequence of operations, including branching and parallel processing, rather than object interaction. In machine learning–based IoMT systems, activity diagrams are useful for visualizing the end-to-end process from data acquisition to anomaly detection and user notification.</a:t>
            </a:r>
          </a:p>
        </p:txBody>
      </p:sp>
      <p:pic>
        <p:nvPicPr>
          <p:cNvPr id="6" name="Picture 5">
            <a:extLst>
              <a:ext uri="{FF2B5EF4-FFF2-40B4-BE49-F238E27FC236}">
                <a16:creationId xmlns:a16="http://schemas.microsoft.com/office/drawing/2014/main" id="{DB92DC61-38FC-B4DA-C7D5-A42ABEE46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9587" y="0"/>
            <a:ext cx="6892413" cy="6764593"/>
          </a:xfrm>
          <a:prstGeom prst="rect">
            <a:avLst/>
          </a:prstGeom>
        </p:spPr>
      </p:pic>
    </p:spTree>
    <p:extLst>
      <p:ext uri="{BB962C8B-B14F-4D97-AF65-F5344CB8AC3E}">
        <p14:creationId xmlns:p14="http://schemas.microsoft.com/office/powerpoint/2010/main" val="3257804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BB2A17-77EB-39DD-7235-0B3F8F8F5161}"/>
              </a:ext>
            </a:extLst>
          </p:cNvPr>
          <p:cNvSpPr txBox="1"/>
          <p:nvPr/>
        </p:nvSpPr>
        <p:spPr>
          <a:xfrm>
            <a:off x="1790782" y="820545"/>
            <a:ext cx="6096000" cy="369332"/>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rPr>
              <a:t>USE CASE DIAGRAM </a:t>
            </a:r>
            <a:endParaRPr lang="en-US" sz="1800" dirty="0"/>
          </a:p>
        </p:txBody>
      </p:sp>
      <p:sp>
        <p:nvSpPr>
          <p:cNvPr id="5" name="TextBox 4">
            <a:extLst>
              <a:ext uri="{FF2B5EF4-FFF2-40B4-BE49-F238E27FC236}">
                <a16:creationId xmlns:a16="http://schemas.microsoft.com/office/drawing/2014/main" id="{53D4EA90-8D29-362F-259E-01E767CCF497}"/>
              </a:ext>
            </a:extLst>
          </p:cNvPr>
          <p:cNvSpPr txBox="1"/>
          <p:nvPr/>
        </p:nvSpPr>
        <p:spPr>
          <a:xfrm>
            <a:off x="1258365" y="1476142"/>
            <a:ext cx="3810000"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 use case diagram describes </a:t>
            </a:r>
            <a:r>
              <a:rPr lang="en-US" sz="2000" b="1" dirty="0">
                <a:latin typeface="Times New Roman" panose="02020603050405020304" pitchFamily="18" charset="0"/>
                <a:cs typeface="Times New Roman" panose="02020603050405020304" pitchFamily="18" charset="0"/>
              </a:rPr>
              <a:t>what the system does from the user’s perspective</a:t>
            </a:r>
            <a:r>
              <a:rPr lang="en-US" sz="2000" dirty="0">
                <a:latin typeface="Times New Roman" panose="02020603050405020304" pitchFamily="18" charset="0"/>
                <a:cs typeface="Times New Roman" panose="02020603050405020304" pitchFamily="18" charset="0"/>
              </a:rPr>
              <a:t>. It identifies system functionalities (use cases) and shows how different actors interact with those functionalities. Use case diagrams are helpful for capturing </a:t>
            </a: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and defining system boundaries.</a:t>
            </a:r>
          </a:p>
        </p:txBody>
      </p:sp>
      <p:pic>
        <p:nvPicPr>
          <p:cNvPr id="4" name="Picture 3">
            <a:extLst>
              <a:ext uri="{FF2B5EF4-FFF2-40B4-BE49-F238E27FC236}">
                <a16:creationId xmlns:a16="http://schemas.microsoft.com/office/drawing/2014/main" id="{503C2934-D5C9-28CC-F4FF-7480281AB9F4}"/>
              </a:ext>
            </a:extLst>
          </p:cNvPr>
          <p:cNvPicPr>
            <a:picLocks noChangeAspect="1"/>
          </p:cNvPicPr>
          <p:nvPr/>
        </p:nvPicPr>
        <p:blipFill>
          <a:blip r:embed="rId2"/>
          <a:stretch>
            <a:fillRect/>
          </a:stretch>
        </p:blipFill>
        <p:spPr>
          <a:xfrm>
            <a:off x="5250426" y="0"/>
            <a:ext cx="6941573" cy="6858000"/>
          </a:xfrm>
          <a:prstGeom prst="rect">
            <a:avLst/>
          </a:prstGeom>
        </p:spPr>
      </p:pic>
    </p:spTree>
    <p:extLst>
      <p:ext uri="{BB962C8B-B14F-4D97-AF65-F5344CB8AC3E}">
        <p14:creationId xmlns:p14="http://schemas.microsoft.com/office/powerpoint/2010/main" val="3718715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01249-6D53-9754-4396-3BF4B39215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35D3AD-F1CE-5C9D-9A6D-D28047E363BC}"/>
              </a:ext>
            </a:extLst>
          </p:cNvPr>
          <p:cNvSpPr txBox="1"/>
          <p:nvPr/>
        </p:nvSpPr>
        <p:spPr>
          <a:xfrm>
            <a:off x="1621012" y="811342"/>
            <a:ext cx="6096000" cy="369332"/>
          </a:xfrm>
          <a:prstGeom prst="rect">
            <a:avLst/>
          </a:prstGeom>
          <a:noFill/>
        </p:spPr>
        <p:txBody>
          <a:bodyPr wrap="square">
            <a:spAutoFit/>
          </a:bodyPr>
          <a:lstStyle/>
          <a:p>
            <a:r>
              <a:rPr lang="en-US" sz="1800" b="1" dirty="0">
                <a:effectLst/>
                <a:latin typeface="Times New Roman" panose="02020603050405020304" pitchFamily="18" charset="0"/>
                <a:ea typeface="Calibri" panose="020F0502020204030204" pitchFamily="34" charset="0"/>
              </a:rPr>
              <a:t>COMPONENT DIAGRAM </a:t>
            </a:r>
            <a:endParaRPr lang="en-US" sz="1800" dirty="0"/>
          </a:p>
        </p:txBody>
      </p:sp>
      <p:sp>
        <p:nvSpPr>
          <p:cNvPr id="5" name="TextBox 4">
            <a:extLst>
              <a:ext uri="{FF2B5EF4-FFF2-40B4-BE49-F238E27FC236}">
                <a16:creationId xmlns:a16="http://schemas.microsoft.com/office/drawing/2014/main" id="{C104C3C9-A8B6-4257-802E-CAE205BA83E1}"/>
              </a:ext>
            </a:extLst>
          </p:cNvPr>
          <p:cNvSpPr txBox="1"/>
          <p:nvPr/>
        </p:nvSpPr>
        <p:spPr>
          <a:xfrm>
            <a:off x="815094" y="1563841"/>
            <a:ext cx="4185920" cy="373031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A component diagram illustrates the </a:t>
            </a:r>
            <a:r>
              <a:rPr lang="en-US" sz="2000" b="1" dirty="0">
                <a:latin typeface="Times New Roman" panose="02020603050405020304" pitchFamily="18" charset="0"/>
                <a:cs typeface="Times New Roman" panose="02020603050405020304" pitchFamily="18" charset="0"/>
              </a:rPr>
              <a:t>structural organization of a system</a:t>
            </a:r>
            <a:r>
              <a:rPr lang="en-US" sz="2000" dirty="0">
                <a:latin typeface="Times New Roman" panose="02020603050405020304" pitchFamily="18" charset="0"/>
                <a:cs typeface="Times New Roman" panose="02020603050405020304" pitchFamily="18" charset="0"/>
              </a:rPr>
              <a:t>, showing how software components interact through interfaces. It focuses on </a:t>
            </a:r>
            <a:r>
              <a:rPr lang="en-US" sz="2000" b="1" dirty="0">
                <a:latin typeface="Times New Roman" panose="02020603050405020304" pitchFamily="18" charset="0"/>
                <a:cs typeface="Times New Roman" panose="02020603050405020304" pitchFamily="18" charset="0"/>
              </a:rPr>
              <a:t>modularity, dependencies, and high-level architecture</a:t>
            </a:r>
            <a:r>
              <a:rPr lang="en-US" sz="2000" dirty="0">
                <a:latin typeface="Times New Roman" panose="02020603050405020304" pitchFamily="18" charset="0"/>
                <a:cs typeface="Times New Roman" panose="02020603050405020304" pitchFamily="18" charset="0"/>
              </a:rPr>
              <a:t>, making it useful for understanding system design and deployment structure.</a:t>
            </a:r>
          </a:p>
        </p:txBody>
      </p:sp>
      <p:pic>
        <p:nvPicPr>
          <p:cNvPr id="4" name="Picture 3">
            <a:extLst>
              <a:ext uri="{FF2B5EF4-FFF2-40B4-BE49-F238E27FC236}">
                <a16:creationId xmlns:a16="http://schemas.microsoft.com/office/drawing/2014/main" id="{14A01FE0-CD80-BEF1-2C11-DBB769A5481C}"/>
              </a:ext>
            </a:extLst>
          </p:cNvPr>
          <p:cNvPicPr>
            <a:picLocks noChangeAspect="1"/>
          </p:cNvPicPr>
          <p:nvPr/>
        </p:nvPicPr>
        <p:blipFill>
          <a:blip r:embed="rId2"/>
          <a:stretch>
            <a:fillRect/>
          </a:stretch>
        </p:blipFill>
        <p:spPr>
          <a:xfrm>
            <a:off x="5201265" y="0"/>
            <a:ext cx="6990736" cy="6858000"/>
          </a:xfrm>
          <a:prstGeom prst="rect">
            <a:avLst/>
          </a:prstGeom>
        </p:spPr>
      </p:pic>
    </p:spTree>
    <p:extLst>
      <p:ext uri="{BB962C8B-B14F-4D97-AF65-F5344CB8AC3E}">
        <p14:creationId xmlns:p14="http://schemas.microsoft.com/office/powerpoint/2010/main" val="901793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EFD74-5981-BB3B-9B28-C25F46AC90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8859D1-9BB5-09C9-A09D-A4CC63FA56EE}"/>
              </a:ext>
            </a:extLst>
          </p:cNvPr>
          <p:cNvSpPr txBox="1"/>
          <p:nvPr/>
        </p:nvSpPr>
        <p:spPr>
          <a:xfrm>
            <a:off x="3622040" y="225017"/>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MODULES DESCRIPTION</a:t>
            </a:r>
          </a:p>
        </p:txBody>
      </p:sp>
      <p:sp>
        <p:nvSpPr>
          <p:cNvPr id="5" name="TextBox 4">
            <a:extLst>
              <a:ext uri="{FF2B5EF4-FFF2-40B4-BE49-F238E27FC236}">
                <a16:creationId xmlns:a16="http://schemas.microsoft.com/office/drawing/2014/main" id="{DAFD25F6-BC51-AD66-784E-D8385AE03E12}"/>
              </a:ext>
            </a:extLst>
          </p:cNvPr>
          <p:cNvSpPr txBox="1"/>
          <p:nvPr/>
        </p:nvSpPr>
        <p:spPr>
          <a:xfrm>
            <a:off x="1838960" y="989335"/>
            <a:ext cx="9662160" cy="6038641"/>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1.Data Handling &amp; Preprocessing</a:t>
            </a:r>
          </a:p>
          <a:p>
            <a:pPr algn="just">
              <a:lnSpc>
                <a:spcPct val="150000"/>
              </a:lnSpc>
            </a:pPr>
            <a:r>
              <a:rPr lang="en-US" sz="2000" dirty="0">
                <a:latin typeface="Times New Roman" panose="02020603050405020304" pitchFamily="18" charset="0"/>
                <a:cs typeface="Times New Roman" panose="02020603050405020304" pitchFamily="18" charset="0"/>
              </a:rPr>
              <a:t>1. Library &amp; Environment Setup : Imports Pandas, NumPy, Scikit-learn,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Matplotlib, Seaborn, Pickle, Flask; suppresses warnings.</a:t>
            </a:r>
          </a:p>
          <a:p>
            <a:pPr algn="just">
              <a:lnSpc>
                <a:spcPct val="150000"/>
              </a:lnSpc>
            </a:pPr>
            <a:r>
              <a:rPr lang="en-US" sz="2000" b="1" dirty="0">
                <a:latin typeface="Times New Roman" panose="02020603050405020304" pitchFamily="18" charset="0"/>
                <a:cs typeface="Times New Roman" panose="02020603050405020304" pitchFamily="18" charset="0"/>
              </a:rPr>
              <a:t>2. Dataset Loading :</a:t>
            </a:r>
          </a:p>
          <a:p>
            <a:pPr algn="just">
              <a:lnSpc>
                <a:spcPct val="150000"/>
              </a:lnSpc>
            </a:pPr>
            <a:r>
              <a:rPr lang="en-US" sz="2000" dirty="0">
                <a:latin typeface="Times New Roman" panose="02020603050405020304" pitchFamily="18" charset="0"/>
                <a:cs typeface="Times New Roman" panose="02020603050405020304" pitchFamily="18" charset="0"/>
              </a:rPr>
              <a:t>UNSW-NB15: Network traffic data for IoMT intrusion detection.</a:t>
            </a:r>
          </a:p>
          <a:p>
            <a:pPr algn="just">
              <a:lnSpc>
                <a:spcPct val="150000"/>
              </a:lnSpc>
            </a:pPr>
            <a:r>
              <a:rPr lang="en-US" sz="2000" dirty="0">
                <a:latin typeface="Times New Roman" panose="02020603050405020304" pitchFamily="18" charset="0"/>
                <a:cs typeface="Times New Roman" panose="02020603050405020304" pitchFamily="18" charset="0"/>
              </a:rPr>
              <a:t>Healthcare Diabetes: Patient health indicators, downsized to match UNSW dataset.</a:t>
            </a:r>
          </a:p>
          <a:p>
            <a:pPr algn="just">
              <a:lnSpc>
                <a:spcPct val="150000"/>
              </a:lnSpc>
            </a:pPr>
            <a:r>
              <a:rPr lang="en-US" sz="2000" b="1" dirty="0">
                <a:latin typeface="Times New Roman" panose="02020603050405020304" pitchFamily="18" charset="0"/>
                <a:cs typeface="Times New Roman" panose="02020603050405020304" pitchFamily="18" charset="0"/>
              </a:rPr>
              <a:t>3. Data Cleaning &amp; Encoding :</a:t>
            </a:r>
            <a:r>
              <a:rPr lang="en-US" sz="2000" dirty="0">
                <a:latin typeface="Times New Roman" panose="02020603050405020304" pitchFamily="18" charset="0"/>
                <a:cs typeface="Times New Roman" panose="02020603050405020304" pitchFamily="18" charset="0"/>
              </a:rPr>
              <a:t> Label Encoding, duplicate removal, missing value imputation.</a:t>
            </a:r>
          </a:p>
          <a:p>
            <a:pPr algn="just">
              <a:lnSpc>
                <a:spcPct val="150000"/>
              </a:lnSpc>
            </a:pPr>
            <a:r>
              <a:rPr lang="en-US" sz="2000" b="1" dirty="0">
                <a:latin typeface="Times New Roman" panose="02020603050405020304" pitchFamily="18" charset="0"/>
                <a:cs typeface="Times New Roman" panose="02020603050405020304" pitchFamily="18" charset="0"/>
              </a:rPr>
              <a:t>4. Feature Preparation : </a:t>
            </a:r>
            <a:r>
              <a:rPr lang="en-US" sz="2000" dirty="0">
                <a:latin typeface="Times New Roman" panose="02020603050405020304" pitchFamily="18" charset="0"/>
                <a:cs typeface="Times New Roman" panose="02020603050405020304" pitchFamily="18" charset="0"/>
              </a:rPr>
              <a:t>Normalization (</a:t>
            </a:r>
            <a:r>
              <a:rPr lang="en-US" sz="2000" dirty="0" err="1">
                <a:latin typeface="Times New Roman" panose="02020603050405020304" pitchFamily="18" charset="0"/>
                <a:cs typeface="Times New Roman" panose="02020603050405020304" pitchFamily="18" charset="0"/>
              </a:rPr>
              <a:t>StandardScaler</a:t>
            </a:r>
            <a:r>
              <a:rPr lang="en-US" sz="2000" dirty="0">
                <a:latin typeface="Times New Roman" panose="02020603050405020304" pitchFamily="18" charset="0"/>
                <a:cs typeface="Times New Roman" panose="02020603050405020304" pitchFamily="18" charset="0"/>
              </a:rPr>
              <a:t>), feature–target separation, train-test split, pre-saved dataset loading.</a:t>
            </a:r>
          </a:p>
          <a:p>
            <a:pPr algn="just">
              <a:lnSpc>
                <a:spcPct val="150000"/>
              </a:lnSpc>
            </a:pPr>
            <a:r>
              <a:rPr lang="en-US" sz="2000" b="1" dirty="0">
                <a:latin typeface="Times New Roman" panose="02020603050405020304" pitchFamily="18" charset="0"/>
                <a:cs typeface="Times New Roman" panose="02020603050405020304" pitchFamily="18" charset="0"/>
              </a:rPr>
              <a:t>5. Dataset Fusion </a:t>
            </a:r>
            <a:r>
              <a:rPr lang="en-US" sz="2000" dirty="0">
                <a:latin typeface="Times New Roman" panose="02020603050405020304" pitchFamily="18" charset="0"/>
                <a:cs typeface="Times New Roman" panose="02020603050405020304" pitchFamily="18" charset="0"/>
              </a:rPr>
              <a:t>: Combines normalized healthcare and UNSW features for hybrid IoMT dataset.</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5870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77BE7-16A5-11D3-501C-A5C4E819048F}"/>
              </a:ext>
            </a:extLst>
          </p:cNvPr>
          <p:cNvSpPr txBox="1"/>
          <p:nvPr/>
        </p:nvSpPr>
        <p:spPr>
          <a:xfrm>
            <a:off x="3451122" y="270051"/>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MODULES DESCRIPTION</a:t>
            </a:r>
          </a:p>
        </p:txBody>
      </p:sp>
      <p:sp>
        <p:nvSpPr>
          <p:cNvPr id="5" name="TextBox 4">
            <a:extLst>
              <a:ext uri="{FF2B5EF4-FFF2-40B4-BE49-F238E27FC236}">
                <a16:creationId xmlns:a16="http://schemas.microsoft.com/office/drawing/2014/main" id="{8A622B40-6212-3ABE-73A0-D4EA685A02C2}"/>
              </a:ext>
            </a:extLst>
          </p:cNvPr>
          <p:cNvSpPr txBox="1"/>
          <p:nvPr/>
        </p:nvSpPr>
        <p:spPr>
          <a:xfrm>
            <a:off x="2032000" y="819359"/>
            <a:ext cx="9347200" cy="6038641"/>
          </a:xfrm>
          <a:prstGeom prst="rect">
            <a:avLst/>
          </a:prstGeom>
          <a:noFill/>
        </p:spPr>
        <p:txBody>
          <a:bodyPr wrap="square">
            <a:spAutoFit/>
          </a:bodyPr>
          <a:lstStyle/>
          <a:p>
            <a:pPr algn="just">
              <a:lnSpc>
                <a:spcPct val="150000"/>
              </a:lnSpc>
              <a:buNone/>
            </a:pPr>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000" b="1" dirty="0">
                <a:latin typeface="Times New Roman" panose="02020603050405020304" pitchFamily="18" charset="0"/>
                <a:cs typeface="Times New Roman" panose="02020603050405020304" pitchFamily="18" charset="0"/>
              </a:rPr>
              <a:t>1.Model Training &amp; Evaluation: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Metric Initialization &amp; Calculation : Global lists for Accuracy, Precision, Recall, F1-score; </a:t>
            </a:r>
            <a:r>
              <a:rPr lang="en-US" sz="2000" dirty="0" err="1">
                <a:latin typeface="Times New Roman" panose="02020603050405020304" pitchFamily="18" charset="0"/>
                <a:cs typeface="Times New Roman" panose="02020603050405020304" pitchFamily="18" charset="0"/>
              </a:rPr>
              <a:t>calculateMetrics</a:t>
            </a:r>
            <a:r>
              <a:rPr lang="en-US" sz="2000" dirty="0">
                <a:latin typeface="Times New Roman" panose="02020603050405020304" pitchFamily="18" charset="0"/>
                <a:cs typeface="Times New Roman" panose="02020603050405020304" pitchFamily="18" charset="0"/>
              </a:rPr>
              <a:t> function for evaluation.</a:t>
            </a:r>
          </a:p>
          <a:p>
            <a:pPr algn="just">
              <a:lnSpc>
                <a:spcPct val="150000"/>
              </a:lnSpc>
              <a:buNone/>
            </a:pPr>
            <a:r>
              <a:rPr lang="en-US" sz="2000" b="1" dirty="0">
                <a:latin typeface="Times New Roman" panose="02020603050405020304" pitchFamily="18" charset="0"/>
                <a:cs typeface="Times New Roman" panose="02020603050405020304" pitchFamily="18" charset="0"/>
              </a:rPr>
              <a:t>2. Machine Learning Models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Classical &amp; Ensemble: </a:t>
            </a:r>
            <a:r>
              <a:rPr lang="en-US" sz="2000" dirty="0" err="1">
                <a:latin typeface="Times New Roman" panose="02020603050405020304" pitchFamily="18" charset="0"/>
                <a:cs typeface="Times New Roman" panose="02020603050405020304" pitchFamily="18" charset="0"/>
              </a:rPr>
              <a:t>XGBoost</a:t>
            </a:r>
            <a:r>
              <a:rPr lang="en-US" sz="2000" dirty="0">
                <a:latin typeface="Times New Roman" panose="02020603050405020304" pitchFamily="18" charset="0"/>
                <a:cs typeface="Times New Roman" panose="02020603050405020304" pitchFamily="18" charset="0"/>
              </a:rPr>
              <a:t>, Random Forest, Logistic Regression, KNN, SVM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Anomaly Detection: Isolation Forest</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Neural Networks: ANN (MLP)</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Meta/Extension Models: Soft Voting Classifier, </a:t>
            </a:r>
            <a:r>
              <a:rPr lang="en-US" sz="2000" dirty="0" err="1">
                <a:latin typeface="Times New Roman" panose="02020603050405020304" pitchFamily="18" charset="0"/>
                <a:cs typeface="Times New Roman" panose="02020603050405020304" pitchFamily="18" charset="0"/>
              </a:rPr>
              <a:t>LightGBM</a:t>
            </a:r>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000" b="1" dirty="0">
                <a:latin typeface="Times New Roman" panose="02020603050405020304" pitchFamily="18" charset="0"/>
                <a:cs typeface="Times New Roman" panose="02020603050405020304" pitchFamily="18" charset="0"/>
              </a:rPr>
              <a:t>3. Model Persistence : </a:t>
            </a:r>
            <a:r>
              <a:rPr lang="en-US" sz="2000" dirty="0">
                <a:latin typeface="Times New Roman" panose="02020603050405020304" pitchFamily="18" charset="0"/>
                <a:cs typeface="Times New Roman" panose="02020603050405020304" pitchFamily="18" charset="0"/>
              </a:rPr>
              <a:t>Saves and loads trained models using Pickle for reuse.</a:t>
            </a:r>
          </a:p>
          <a:p>
            <a:pPr algn="just">
              <a:lnSpc>
                <a:spcPct val="150000"/>
              </a:lnSpc>
              <a:buNone/>
            </a:pPr>
            <a:r>
              <a:rPr lang="en-US" sz="2000" b="1" dirty="0">
                <a:latin typeface="Times New Roman" panose="02020603050405020304" pitchFamily="18" charset="0"/>
                <a:cs typeface="Times New Roman" panose="02020603050405020304" pitchFamily="18" charset="0"/>
              </a:rPr>
              <a:t>4. Performance Visualization &amp; Summary : </a:t>
            </a:r>
            <a:r>
              <a:rPr lang="en-US" sz="2000" dirty="0">
                <a:latin typeface="Times New Roman" panose="02020603050405020304" pitchFamily="18" charset="0"/>
                <a:cs typeface="Times New Roman" panose="02020603050405020304" pitchFamily="18" charset="0"/>
              </a:rPr>
              <a:t>Bar charts and Pandas </a:t>
            </a:r>
            <a:r>
              <a:rPr lang="en-US" sz="2000" dirty="0" err="1">
                <a:latin typeface="Times New Roman" panose="02020603050405020304" pitchFamily="18" charset="0"/>
                <a:cs typeface="Times New Roman" panose="02020603050405020304" pitchFamily="18" charset="0"/>
              </a:rPr>
              <a:t>DataFrame</a:t>
            </a:r>
            <a:r>
              <a:rPr lang="en-US" sz="2000" dirty="0">
                <a:latin typeface="Times New Roman" panose="02020603050405020304" pitchFamily="18" charset="0"/>
                <a:cs typeface="Times New Roman" panose="02020603050405020304" pitchFamily="18" charset="0"/>
              </a:rPr>
              <a:t> for metric comparison across algorithms.</a:t>
            </a:r>
          </a:p>
          <a:p>
            <a:pPr algn="just">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347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1127E6-37C4-0BA6-F9BA-1E03922F05CC}"/>
              </a:ext>
            </a:extLst>
          </p:cNvPr>
          <p:cNvSpPr txBox="1"/>
          <p:nvPr/>
        </p:nvSpPr>
        <p:spPr>
          <a:xfrm>
            <a:off x="3703320" y="265777"/>
            <a:ext cx="6096000"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MODULES DESCRIPTION</a:t>
            </a:r>
          </a:p>
        </p:txBody>
      </p:sp>
      <p:sp>
        <p:nvSpPr>
          <p:cNvPr id="5" name="TextBox 4">
            <a:extLst>
              <a:ext uri="{FF2B5EF4-FFF2-40B4-BE49-F238E27FC236}">
                <a16:creationId xmlns:a16="http://schemas.microsoft.com/office/drawing/2014/main" id="{F921FDC7-4421-9B2B-BB0C-7A9C0FB243FF}"/>
              </a:ext>
            </a:extLst>
          </p:cNvPr>
          <p:cNvSpPr txBox="1"/>
          <p:nvPr/>
        </p:nvSpPr>
        <p:spPr>
          <a:xfrm>
            <a:off x="1991360" y="912108"/>
            <a:ext cx="9519920" cy="5940088"/>
          </a:xfrm>
          <a:prstGeom prst="rect">
            <a:avLst/>
          </a:prstGeom>
          <a:noFill/>
        </p:spPr>
        <p:txBody>
          <a:bodyPr wrap="square">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Web Deployment &amp; Prediction</a:t>
            </a:r>
          </a:p>
          <a:p>
            <a:pPr algn="just">
              <a:lnSpc>
                <a:spcPct val="150000"/>
              </a:lnSpc>
              <a:buNone/>
            </a:pPr>
            <a:r>
              <a:rPr lang="en-US" sz="2000" b="1" dirty="0">
                <a:latin typeface="Times New Roman" panose="02020603050405020304" pitchFamily="18" charset="0"/>
                <a:cs typeface="Times New Roman" panose="02020603050405020304" pitchFamily="18" charset="0"/>
              </a:rPr>
              <a:t>1. Flask App Initialization </a:t>
            </a:r>
            <a:r>
              <a:rPr lang="en-US" sz="2000" dirty="0">
                <a:latin typeface="Times New Roman" panose="02020603050405020304" pitchFamily="18" charset="0"/>
                <a:cs typeface="Times New Roman" panose="02020603050405020304" pitchFamily="18" charset="0"/>
              </a:rPr>
              <a:t>– Security keys, dataset reload, preprocessing, model retraining.</a:t>
            </a:r>
          </a:p>
          <a:p>
            <a:pPr algn="just">
              <a:lnSpc>
                <a:spcPct val="150000"/>
              </a:lnSpc>
              <a:buNone/>
            </a:pPr>
            <a:r>
              <a:rPr lang="en-US" sz="2000" b="1" dirty="0">
                <a:latin typeface="Times New Roman" panose="02020603050405020304" pitchFamily="18" charset="0"/>
                <a:cs typeface="Times New Roman" panose="02020603050405020304" pitchFamily="18" charset="0"/>
              </a:rPr>
              <a:t>2. Routes &amp; Functions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index – Homepage</a:t>
            </a:r>
          </a:p>
          <a:p>
            <a:pPr marL="342900" indent="-342900" algn="just">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predictView</a:t>
            </a:r>
            <a:r>
              <a:rPr lang="en-US" sz="2000" dirty="0">
                <a:latin typeface="Times New Roman" panose="02020603050405020304" pitchFamily="18" charset="0"/>
                <a:cs typeface="Times New Roman" panose="02020603050405020304" pitchFamily="18" charset="0"/>
              </a:rPr>
              <a:t> – Prediction page</a:t>
            </a:r>
          </a:p>
          <a:p>
            <a:pPr marL="342900" indent="-342900" algn="just">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UserLogin</a:t>
            </a:r>
            <a:r>
              <a:rPr lang="en-US" sz="2000" dirty="0">
                <a:latin typeface="Times New Roman" panose="02020603050405020304" pitchFamily="18" charset="0"/>
                <a:cs typeface="Times New Roman" panose="02020603050405020304" pitchFamily="18" charset="0"/>
              </a:rPr>
              <a:t> &amp; </a:t>
            </a:r>
            <a:r>
              <a:rPr lang="en-US" sz="2000" dirty="0" err="1">
                <a:latin typeface="Times New Roman" panose="02020603050405020304" pitchFamily="18" charset="0"/>
                <a:cs typeface="Times New Roman" panose="02020603050405020304" pitchFamily="18" charset="0"/>
              </a:rPr>
              <a:t>UserLoginAction</a:t>
            </a:r>
            <a:r>
              <a:rPr lang="en-US" sz="2000" dirty="0">
                <a:latin typeface="Times New Roman" panose="02020603050405020304" pitchFamily="18" charset="0"/>
                <a:cs typeface="Times New Roman" panose="02020603050405020304" pitchFamily="18" charset="0"/>
              </a:rPr>
              <a:t> – User authentication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Logout – Logs out user</a:t>
            </a:r>
          </a:p>
          <a:p>
            <a:pPr marL="342900" indent="-342900" algn="just">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PredictAction</a:t>
            </a:r>
            <a:r>
              <a:rPr lang="en-US" sz="2000" dirty="0">
                <a:latin typeface="Times New Roman" panose="02020603050405020304" pitchFamily="18" charset="0"/>
                <a:cs typeface="Times New Roman" panose="02020603050405020304" pitchFamily="18" charset="0"/>
              </a:rPr>
              <a:t> – Preprocesses test data, runs </a:t>
            </a:r>
            <a:r>
              <a:rPr lang="en-US" sz="2000" dirty="0" err="1">
                <a:latin typeface="Times New Roman" panose="02020603050405020304" pitchFamily="18" charset="0"/>
                <a:cs typeface="Times New Roman" panose="02020603050405020304" pitchFamily="18" charset="0"/>
              </a:rPr>
              <a:t>LightGBM</a:t>
            </a:r>
            <a:r>
              <a:rPr lang="en-US" sz="2000" dirty="0">
                <a:latin typeface="Times New Roman" panose="02020603050405020304" pitchFamily="18" charset="0"/>
                <a:cs typeface="Times New Roman" panose="02020603050405020304" pitchFamily="18" charset="0"/>
              </a:rPr>
              <a:t> model, displays results dynamically.</a:t>
            </a:r>
          </a:p>
          <a:p>
            <a:pPr algn="just">
              <a:lnSpc>
                <a:spcPct val="150000"/>
              </a:lnSpc>
              <a:buNone/>
            </a:pPr>
            <a:r>
              <a:rPr lang="en-US" sz="2000" b="1" dirty="0">
                <a:latin typeface="Times New Roman" panose="02020603050405020304" pitchFamily="18" charset="0"/>
                <a:cs typeface="Times New Roman" panose="02020603050405020304" pitchFamily="18" charset="0"/>
              </a:rPr>
              <a:t>3. Real-time Deployment </a:t>
            </a:r>
            <a:r>
              <a:rPr lang="en-US" sz="2000" dirty="0">
                <a:latin typeface="Times New Roman" panose="02020603050405020304" pitchFamily="18" charset="0"/>
                <a:cs typeface="Times New Roman" panose="02020603050405020304" pitchFamily="18" charset="0"/>
              </a:rPr>
              <a:t>– Flask server enables browser-based IoMT intrusion detection with visual threat indication.</a:t>
            </a:r>
          </a:p>
          <a:p>
            <a:pPr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1132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2624C7-5D21-3DA0-7AD1-DBFC764CCE92}"/>
              </a:ext>
            </a:extLst>
          </p:cNvPr>
          <p:cNvSpPr txBox="1"/>
          <p:nvPr/>
        </p:nvSpPr>
        <p:spPr>
          <a:xfrm>
            <a:off x="1602657" y="324464"/>
            <a:ext cx="9438968"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ALGORITHMS USED IN THE PROJECT</a:t>
            </a:r>
          </a:p>
        </p:txBody>
      </p:sp>
      <p:sp>
        <p:nvSpPr>
          <p:cNvPr id="4" name="TextBox 3">
            <a:extLst>
              <a:ext uri="{FF2B5EF4-FFF2-40B4-BE49-F238E27FC236}">
                <a16:creationId xmlns:a16="http://schemas.microsoft.com/office/drawing/2014/main" id="{686521A2-F803-9751-4A32-251E7032A137}"/>
              </a:ext>
            </a:extLst>
          </p:cNvPr>
          <p:cNvSpPr txBox="1"/>
          <p:nvPr/>
        </p:nvSpPr>
        <p:spPr>
          <a:xfrm>
            <a:off x="2281084" y="2536722"/>
            <a:ext cx="8337755" cy="400110"/>
          </a:xfrm>
          <a:prstGeom prst="rect">
            <a:avLst/>
          </a:prstGeom>
          <a:noFill/>
        </p:spPr>
        <p:txBody>
          <a:bodyPr wrap="square" rtlCol="0">
            <a:spAutoFit/>
          </a:bodyPr>
          <a:lstStyle/>
          <a:p>
            <a:endParaRPr lang="en-US" sz="20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933716C6-EBDC-295C-C2B6-FBC3E6E3A1FA}"/>
              </a:ext>
            </a:extLst>
          </p:cNvPr>
          <p:cNvSpPr>
            <a:spLocks noChangeArrowheads="1"/>
          </p:cNvSpPr>
          <p:nvPr/>
        </p:nvSpPr>
        <p:spPr bwMode="auto">
          <a:xfrm>
            <a:off x="1961534" y="1333009"/>
            <a:ext cx="8721213"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Algorithm Used - Light GBM</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Builds an ensemble of decision trees sequentially, where each tree corrects the errors of previous trees.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leaf-wise tree growth strategy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expands the leaf with maximum loss reduction, enabling deeper pattern learning.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histogram-based feature discretization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significantly reduce computational cost and memory usage.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training and high predictive accuracy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suitable for intrusion detection tasks.</a:t>
            </a:r>
          </a:p>
        </p:txBody>
      </p:sp>
    </p:spTree>
    <p:extLst>
      <p:ext uri="{BB962C8B-B14F-4D97-AF65-F5344CB8AC3E}">
        <p14:creationId xmlns:p14="http://schemas.microsoft.com/office/powerpoint/2010/main" val="4046185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E9AF5C-EF8B-8A1F-658D-AD6E9F16DCC3}"/>
              </a:ext>
            </a:extLst>
          </p:cNvPr>
          <p:cNvSpPr txBox="1"/>
          <p:nvPr/>
        </p:nvSpPr>
        <p:spPr>
          <a:xfrm>
            <a:off x="2300749" y="1521033"/>
            <a:ext cx="7253967" cy="3637984"/>
          </a:xfrm>
          <a:prstGeom prst="rect">
            <a:avLst/>
          </a:prstGeom>
          <a:noFill/>
        </p:spPr>
        <p:txBody>
          <a:bodyPr wrap="square">
            <a:spAutoFit/>
          </a:bodyPr>
          <a:lstStyle/>
          <a:p>
            <a:pPr>
              <a:buNone/>
            </a:pPr>
            <a:endParaRPr lang="en-US" sz="2400" b="1"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Initialize the model with a baseline prediction.</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Compute loss gradients for all training samples.</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Select the leaf with the maximum loss reduction.</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Split the selected leaf using the most informative feature threshold.</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Update predictions by adding the newly trained tree.</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Repeat the process until the stopping criteria are met.</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Combine all trees to produce the final classification output</a:t>
            </a:r>
            <a:r>
              <a:rPr lang="en-US" dirty="0"/>
              <a:t>.</a:t>
            </a:r>
          </a:p>
        </p:txBody>
      </p:sp>
      <p:sp>
        <p:nvSpPr>
          <p:cNvPr id="5" name="TextBox 4">
            <a:extLst>
              <a:ext uri="{FF2B5EF4-FFF2-40B4-BE49-F238E27FC236}">
                <a16:creationId xmlns:a16="http://schemas.microsoft.com/office/drawing/2014/main" id="{C0E48415-59EC-C952-D683-AB9DAEC73C25}"/>
              </a:ext>
            </a:extLst>
          </p:cNvPr>
          <p:cNvSpPr txBox="1"/>
          <p:nvPr/>
        </p:nvSpPr>
        <p:spPr>
          <a:xfrm>
            <a:off x="1995949" y="782369"/>
            <a:ext cx="4847303"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Algorithm Steps – </a:t>
            </a:r>
            <a:r>
              <a:rPr lang="en-US" sz="2400" b="1" dirty="0" err="1">
                <a:latin typeface="Times New Roman" panose="02020603050405020304" pitchFamily="18" charset="0"/>
                <a:cs typeface="Times New Roman" panose="02020603050405020304" pitchFamily="18" charset="0"/>
              </a:rPr>
              <a:t>LightGBM</a:t>
            </a:r>
            <a:endParaRPr lang="en-US" sz="24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93257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F06A2D0-AE71-4747-C859-12771E4AA845}"/>
              </a:ext>
            </a:extLst>
          </p:cNvPr>
          <p:cNvSpPr txBox="1"/>
          <p:nvPr/>
        </p:nvSpPr>
        <p:spPr>
          <a:xfrm>
            <a:off x="1932039" y="277235"/>
            <a:ext cx="8327921"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IMPLEMENTATION</a:t>
            </a:r>
          </a:p>
        </p:txBody>
      </p:sp>
      <p:sp>
        <p:nvSpPr>
          <p:cNvPr id="3" name="Rectangle 1">
            <a:extLst>
              <a:ext uri="{FF2B5EF4-FFF2-40B4-BE49-F238E27FC236}">
                <a16:creationId xmlns:a16="http://schemas.microsoft.com/office/drawing/2014/main" id="{19068EFE-B00D-F30B-E88C-6926907DD434}"/>
              </a:ext>
            </a:extLst>
          </p:cNvPr>
          <p:cNvSpPr>
            <a:spLocks noChangeArrowheads="1"/>
          </p:cNvSpPr>
          <p:nvPr/>
        </p:nvSpPr>
        <p:spPr bwMode="auto">
          <a:xfrm>
            <a:off x="1626969" y="923566"/>
            <a:ext cx="9906270"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UNSW-NB15 intrusion dataset and healthcare-related data were collected and merged to represent realistic IoMT traffic scenarios.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was performed, including handling missing values, label encoding of categorical features, and normalization to ensure uniform feature scaling.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 was applied to remove irrelevant and redundant attributes, improving model efficiency and reducing computational overhead.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baseline machine learning models were implemented for performance comparison, followed by the proposed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Meta Model.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classifier was trained using a leaf-wise tree growth strategy and histogram-based learning for faster convergence and improved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trained model was integrated into a classification pipeline to detect normal and attack traffic in IoMT environments.</a:t>
            </a:r>
          </a:p>
        </p:txBody>
      </p:sp>
    </p:spTree>
    <p:extLst>
      <p:ext uri="{BB962C8B-B14F-4D97-AF65-F5344CB8AC3E}">
        <p14:creationId xmlns:p14="http://schemas.microsoft.com/office/powerpoint/2010/main" val="2590027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FC687F-EA22-4919-F0CA-887D7402A7AA}"/>
              </a:ext>
            </a:extLst>
          </p:cNvPr>
          <p:cNvSpPr txBox="1"/>
          <p:nvPr/>
        </p:nvSpPr>
        <p:spPr>
          <a:xfrm>
            <a:off x="4925962" y="288621"/>
            <a:ext cx="3215148"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TESTING</a:t>
            </a:r>
          </a:p>
        </p:txBody>
      </p:sp>
      <p:sp>
        <p:nvSpPr>
          <p:cNvPr id="4" name="Rectangle 1">
            <a:extLst>
              <a:ext uri="{FF2B5EF4-FFF2-40B4-BE49-F238E27FC236}">
                <a16:creationId xmlns:a16="http://schemas.microsoft.com/office/drawing/2014/main" id="{910EE322-741C-6E49-5E20-F3450B03C2B6}"/>
              </a:ext>
            </a:extLst>
          </p:cNvPr>
          <p:cNvSpPr>
            <a:spLocks noChangeArrowheads="1"/>
          </p:cNvSpPr>
          <p:nvPr/>
        </p:nvSpPr>
        <p:spPr bwMode="auto">
          <a:xfrm>
            <a:off x="1936955" y="992403"/>
            <a:ext cx="9606117"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was divided into training and testing sets to ensure unbiased performance evaluation.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Functional testing was conducted to verify correct data flow through preprocessing, training, and prediction stages.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was evaluated using standard performance metrics such as accuracy, precision, recall, and F1-score.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Comparative testing was performed between baseline models and the proposed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Meta Model to validate performance improvement.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Stress testing was carried out using multiple attack categories to assess robustness against diverse intrusion patterns.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 analysis confirmed the reliability and consistency of the proposed model for IoMT anomaly detection.</a:t>
            </a:r>
          </a:p>
        </p:txBody>
      </p:sp>
    </p:spTree>
    <p:extLst>
      <p:ext uri="{BB962C8B-B14F-4D97-AF65-F5344CB8AC3E}">
        <p14:creationId xmlns:p14="http://schemas.microsoft.com/office/powerpoint/2010/main" val="2410323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28D9DB-E929-A8AA-1C61-FD781724100D}"/>
              </a:ext>
            </a:extLst>
          </p:cNvPr>
          <p:cNvSpPr txBox="1"/>
          <p:nvPr/>
        </p:nvSpPr>
        <p:spPr>
          <a:xfrm>
            <a:off x="4699819" y="309717"/>
            <a:ext cx="296934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RESULTS</a:t>
            </a:r>
          </a:p>
        </p:txBody>
      </p:sp>
      <p:sp>
        <p:nvSpPr>
          <p:cNvPr id="3" name="Rectangle 1">
            <a:extLst>
              <a:ext uri="{FF2B5EF4-FFF2-40B4-BE49-F238E27FC236}">
                <a16:creationId xmlns:a16="http://schemas.microsoft.com/office/drawing/2014/main" id="{C7B687BE-9B4F-282C-FF24-861160706B95}"/>
              </a:ext>
            </a:extLst>
          </p:cNvPr>
          <p:cNvSpPr>
            <a:spLocks noChangeArrowheads="1"/>
          </p:cNvSpPr>
          <p:nvPr/>
        </p:nvSpPr>
        <p:spPr bwMode="auto">
          <a:xfrm>
            <a:off x="1848465" y="871343"/>
            <a:ext cx="9379974"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was tested using unseen and preprocessed network traffic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input sample contains normalized feature values extracted from network flows.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trained model classifies traffic into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multiple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attack categories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attack Categories Identified by the system include:</a:t>
            </a: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DoS,Worms,Reconnaissance</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successfully distinguishes normal traffic from malicious traffic.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also accurately differentiates between various attack types based on learned patterns.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results indicate that the system supports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multi-class intrusion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rather than simple binary classification.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demonstrates the effectiveness of the model in identifying diverse network attacks in real-world scenarios.</a:t>
            </a:r>
          </a:p>
        </p:txBody>
      </p:sp>
    </p:spTree>
    <p:extLst>
      <p:ext uri="{BB962C8B-B14F-4D97-AF65-F5344CB8AC3E}">
        <p14:creationId xmlns:p14="http://schemas.microsoft.com/office/powerpoint/2010/main" val="3392848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5EC7F8-0DEB-7D78-C6D4-71DE303533A0}"/>
              </a:ext>
            </a:extLst>
          </p:cNvPr>
          <p:cNvSpPr txBox="1"/>
          <p:nvPr/>
        </p:nvSpPr>
        <p:spPr>
          <a:xfrm>
            <a:off x="3991897" y="403123"/>
            <a:ext cx="450317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CONCLUSION</a:t>
            </a:r>
          </a:p>
        </p:txBody>
      </p:sp>
      <p:sp>
        <p:nvSpPr>
          <p:cNvPr id="3" name="Rectangle 1">
            <a:extLst>
              <a:ext uri="{FF2B5EF4-FFF2-40B4-BE49-F238E27FC236}">
                <a16:creationId xmlns:a16="http://schemas.microsoft.com/office/drawing/2014/main" id="{F4C6B211-57B0-8E2E-D0C3-C408C98A17A2}"/>
              </a:ext>
            </a:extLst>
          </p:cNvPr>
          <p:cNvSpPr>
            <a:spLocks noChangeArrowheads="1"/>
          </p:cNvSpPr>
          <p:nvPr/>
        </p:nvSpPr>
        <p:spPr bwMode="auto">
          <a:xfrm>
            <a:off x="1691147" y="1453004"/>
            <a:ext cx="9989575"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healthcare indicators with network traffic significantly enhances IoMT anomaly detection performance.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Standalone models like ANN showed limited generalization on complex IoMT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Meta Model achieved superior accuracy, precision, recall, and      F1-score.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recall ensures effective detection of diverse cyberattacks with reduced false negatives.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framework is scalable, reliable, and suitable for real-time IoMT cybersecurity deployment.</a:t>
            </a:r>
          </a:p>
        </p:txBody>
      </p:sp>
    </p:spTree>
    <p:extLst>
      <p:ext uri="{BB962C8B-B14F-4D97-AF65-F5344CB8AC3E}">
        <p14:creationId xmlns:p14="http://schemas.microsoft.com/office/powerpoint/2010/main" val="663416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358BBD-230C-86C0-125B-65846A6B347D}"/>
              </a:ext>
            </a:extLst>
          </p:cNvPr>
          <p:cNvSpPr txBox="1"/>
          <p:nvPr/>
        </p:nvSpPr>
        <p:spPr>
          <a:xfrm>
            <a:off x="3932903" y="154041"/>
            <a:ext cx="5014452"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FUTURESCOPE</a:t>
            </a:r>
          </a:p>
        </p:txBody>
      </p:sp>
      <p:sp>
        <p:nvSpPr>
          <p:cNvPr id="3" name="Rectangle 1">
            <a:extLst>
              <a:ext uri="{FF2B5EF4-FFF2-40B4-BE49-F238E27FC236}">
                <a16:creationId xmlns:a16="http://schemas.microsoft.com/office/drawing/2014/main" id="{A4903BDA-CC9F-8E33-0E04-B7CEF322D1AA}"/>
              </a:ext>
            </a:extLst>
          </p:cNvPr>
          <p:cNvSpPr>
            <a:spLocks noChangeArrowheads="1"/>
          </p:cNvSpPr>
          <p:nvPr/>
        </p:nvSpPr>
        <p:spPr bwMode="auto">
          <a:xfrm>
            <a:off x="1814754" y="891460"/>
            <a:ext cx="9718486" cy="603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streaming frameworks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Apache Kafka, MQTT) to enable continuous and live intrusion monitoring in IoMT environments.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Extension of the model to support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dynamic response to evolving and unseen cyberattack patterns.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Exploration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deep learning architectures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Graph Neural Networks (GNNs) and Transformer-based models to capture temporal and relational dependencies among IoMT devices.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hyperparameter optimization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techniques to enhance detection accuracy and reduce manual tuning efforts.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Incorporation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AI (XAI)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methods to improve model interpretability, transparency, and trustworthiness in healthcare applications.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and evaluation of the system in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large-scale, real-world IoMT settings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validate scalability and robustness.</a:t>
            </a:r>
          </a:p>
        </p:txBody>
      </p:sp>
    </p:spTree>
    <p:extLst>
      <p:ext uri="{BB962C8B-B14F-4D97-AF65-F5344CB8AC3E}">
        <p14:creationId xmlns:p14="http://schemas.microsoft.com/office/powerpoint/2010/main" val="3654704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CFC2CF-202B-56B6-0EC9-D9B54E45E67E}"/>
              </a:ext>
            </a:extLst>
          </p:cNvPr>
          <p:cNvSpPr txBox="1"/>
          <p:nvPr/>
        </p:nvSpPr>
        <p:spPr>
          <a:xfrm>
            <a:off x="3300033" y="93274"/>
            <a:ext cx="6096000" cy="646331"/>
          </a:xfrm>
          <a:prstGeom prst="rect">
            <a:avLst/>
          </a:prstGeom>
          <a:noFill/>
        </p:spPr>
        <p:txBody>
          <a:bodyPr wrap="square">
            <a:spAutoFit/>
          </a:bodyPr>
          <a:lstStyle/>
          <a:p>
            <a:pPr algn="ctr">
              <a:buNone/>
            </a:pPr>
            <a:r>
              <a:rPr lang="en-US" sz="3600" b="1" dirty="0">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FEE530FA-FCDA-87CD-9ED5-9F9872ED3186}"/>
              </a:ext>
            </a:extLst>
          </p:cNvPr>
          <p:cNvSpPr txBox="1"/>
          <p:nvPr/>
        </p:nvSpPr>
        <p:spPr>
          <a:xfrm>
            <a:off x="1615440" y="894080"/>
            <a:ext cx="10058400" cy="5224315"/>
          </a:xfrm>
          <a:prstGeom prst="rect">
            <a:avLst/>
          </a:prstGeom>
          <a:noFill/>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[1] E. Šabić, D. Keeley, B. Henderson, and S. </a:t>
            </a:r>
            <a:r>
              <a:rPr lang="en-US" sz="1400" dirty="0" err="1">
                <a:latin typeface="Times New Roman" panose="02020603050405020304" pitchFamily="18" charset="0"/>
                <a:cs typeface="Times New Roman" panose="02020603050405020304" pitchFamily="18" charset="0"/>
              </a:rPr>
              <a:t>Nannemann</a:t>
            </a:r>
            <a:r>
              <a:rPr lang="en-US" sz="1400" dirty="0">
                <a:latin typeface="Times New Roman" panose="02020603050405020304" pitchFamily="18" charset="0"/>
                <a:cs typeface="Times New Roman" panose="02020603050405020304" pitchFamily="18" charset="0"/>
              </a:rPr>
              <a:t>, “Healthcare and anomaly detection: Using machine learning to predict anomalies in heart rate data,” </a:t>
            </a:r>
            <a:r>
              <a:rPr lang="en-US" sz="1400" i="1" dirty="0">
                <a:latin typeface="Times New Roman" panose="02020603050405020304" pitchFamily="18" charset="0"/>
                <a:cs typeface="Times New Roman" panose="02020603050405020304" pitchFamily="18" charset="0"/>
              </a:rPr>
              <a:t>AI &amp; Society</a:t>
            </a:r>
            <a:r>
              <a:rPr lang="en-US" sz="1400" dirty="0">
                <a:latin typeface="Times New Roman" panose="02020603050405020304" pitchFamily="18" charset="0"/>
                <a:cs typeface="Times New Roman" panose="02020603050405020304" pitchFamily="18" charset="0"/>
              </a:rPr>
              <a:t>, vol. 36, no. 1, pp. 149–158, May 2020,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10.1007/s00146-020-00985-1.</a:t>
            </a:r>
          </a:p>
          <a:p>
            <a:pPr algn="just">
              <a:lnSpc>
                <a:spcPct val="150000"/>
              </a:lnSpc>
            </a:pPr>
            <a:r>
              <a:rPr lang="en-US" sz="1400" dirty="0">
                <a:latin typeface="Times New Roman" panose="02020603050405020304" pitchFamily="18" charset="0"/>
                <a:cs typeface="Times New Roman" panose="02020603050405020304" pitchFamily="18" charset="0"/>
              </a:rPr>
              <a:t>[2] S. Park, K. H. Lee, B. Ko, and N. Kim, “Unsupervised anomaly detection with generative adversarial networks in mammography,” Sci. Rep., vol. 13, no. 1, pp. 1–10, Feb. 2023,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10.1038/s41598-023-29521-z. </a:t>
            </a:r>
          </a:p>
          <a:p>
            <a:pPr algn="just">
              <a:lnSpc>
                <a:spcPct val="150000"/>
              </a:lnSpc>
            </a:pPr>
            <a:r>
              <a:rPr lang="en-US" sz="1400" dirty="0">
                <a:latin typeface="Times New Roman" panose="02020603050405020304" pitchFamily="18" charset="0"/>
                <a:cs typeface="Times New Roman" panose="02020603050405020304" pitchFamily="18" charset="0"/>
              </a:rPr>
              <a:t>[3] M. Kavitha, P. V. V. S. Srinivas, P. S. L. </a:t>
            </a:r>
            <a:r>
              <a:rPr lang="en-US" sz="1400" dirty="0" err="1">
                <a:latin typeface="Times New Roman" panose="02020603050405020304" pitchFamily="18" charset="0"/>
                <a:cs typeface="Times New Roman" panose="02020603050405020304" pitchFamily="18" charset="0"/>
              </a:rPr>
              <a:t>Kalyampudi</a:t>
            </a:r>
            <a:r>
              <a:rPr lang="en-US" sz="1400" dirty="0">
                <a:latin typeface="Times New Roman" panose="02020603050405020304" pitchFamily="18" charset="0"/>
                <a:cs typeface="Times New Roman" panose="02020603050405020304" pitchFamily="18" charset="0"/>
              </a:rPr>
              <a:t>, S. F. </a:t>
            </a:r>
            <a:r>
              <a:rPr lang="en-US" sz="1400" dirty="0" err="1">
                <a:latin typeface="Times New Roman" panose="02020603050405020304" pitchFamily="18" charset="0"/>
                <a:cs typeface="Times New Roman" panose="02020603050405020304" pitchFamily="18" charset="0"/>
              </a:rPr>
              <a:t>Choragudi</a:t>
            </a:r>
            <a:r>
              <a:rPr lang="en-US" sz="1400" dirty="0">
                <a:latin typeface="Times New Roman" panose="02020603050405020304" pitchFamily="18" charset="0"/>
                <a:cs typeface="Times New Roman" panose="02020603050405020304" pitchFamily="18" charset="0"/>
              </a:rPr>
              <a:t>, and S. Srinivasulu, “Machine learning techniques for anomaly detection in smart healthcare,” in </a:t>
            </a:r>
            <a:r>
              <a:rPr lang="en-US" sz="1400" i="1" dirty="0">
                <a:latin typeface="Times New Roman" panose="02020603050405020304" pitchFamily="18" charset="0"/>
                <a:cs typeface="Times New Roman" panose="02020603050405020304" pitchFamily="18" charset="0"/>
              </a:rPr>
              <a:t>Proc. 3rd Int. Conf. Inventive Research in Computing Applications (ICIRCA)</a:t>
            </a:r>
            <a:r>
              <a:rPr lang="en-US" sz="1400" dirty="0">
                <a:latin typeface="Times New Roman" panose="02020603050405020304" pitchFamily="18" charset="0"/>
                <a:cs typeface="Times New Roman" panose="02020603050405020304" pitchFamily="18" charset="0"/>
              </a:rPr>
              <a:t>, Sep. 2021, pp. 1350–1356.</a:t>
            </a:r>
          </a:p>
          <a:p>
            <a:pPr algn="just">
              <a:lnSpc>
                <a:spcPct val="150000"/>
              </a:lnSpc>
            </a:pPr>
            <a:r>
              <a:rPr lang="en-US" sz="1400" dirty="0">
                <a:latin typeface="Times New Roman" panose="02020603050405020304" pitchFamily="18" charset="0"/>
                <a:cs typeface="Times New Roman" panose="02020603050405020304" pitchFamily="18" charset="0"/>
              </a:rPr>
              <a:t>[4] L. Fang, Y. Li, Z. Liu, C. Yin, M. Li, and Z. J. Cao, “A practical model based on anomaly detection for protecting medical IoT control services against external attacks,” </a:t>
            </a:r>
            <a:r>
              <a:rPr lang="en-US" sz="1400" i="1" dirty="0">
                <a:latin typeface="Times New Roman" panose="02020603050405020304" pitchFamily="18" charset="0"/>
                <a:cs typeface="Times New Roman" panose="02020603050405020304" pitchFamily="18" charset="0"/>
              </a:rPr>
              <a:t>IEEE Transactions on Industrial Informatics</a:t>
            </a:r>
            <a:r>
              <a:rPr lang="en-US" sz="1400" dirty="0">
                <a:latin typeface="Times New Roman" panose="02020603050405020304" pitchFamily="18" charset="0"/>
                <a:cs typeface="Times New Roman" panose="02020603050405020304" pitchFamily="18" charset="0"/>
              </a:rPr>
              <a:t>, vol. 17, no. 6, pp. 4260–4269, Jun. 2021,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10.1109/TII.2020.3011444.</a:t>
            </a:r>
          </a:p>
          <a:p>
            <a:pPr algn="just">
              <a:lnSpc>
                <a:spcPct val="150000"/>
              </a:lnSpc>
            </a:pPr>
            <a:r>
              <a:rPr lang="en-US" sz="1400" dirty="0">
                <a:latin typeface="Times New Roman" panose="02020603050405020304" pitchFamily="18" charset="0"/>
                <a:cs typeface="Times New Roman" panose="02020603050405020304" pitchFamily="18" charset="0"/>
              </a:rPr>
              <a:t>[5] T. </a:t>
            </a:r>
            <a:r>
              <a:rPr lang="en-US" sz="1400" dirty="0" err="1">
                <a:latin typeface="Times New Roman" panose="02020603050405020304" pitchFamily="18" charset="0"/>
                <a:cs typeface="Times New Roman" panose="02020603050405020304" pitchFamily="18" charset="0"/>
              </a:rPr>
              <a:t>Alsolami</a:t>
            </a:r>
            <a:r>
              <a:rPr lang="en-US" sz="1400" dirty="0">
                <a:latin typeface="Times New Roman" panose="02020603050405020304" pitchFamily="18" charset="0"/>
                <a:cs typeface="Times New Roman" panose="02020603050405020304" pitchFamily="18" charset="0"/>
              </a:rPr>
              <a:t>, B. Alsharif, and M. Ilyas, “Enhancing cybersecurity in healthcare: Evaluating ensemble learning models for intrusion detection in the Internet of Medical Things,” </a:t>
            </a:r>
            <a:r>
              <a:rPr lang="en-US" sz="1400" i="1" dirty="0">
                <a:latin typeface="Times New Roman" panose="02020603050405020304" pitchFamily="18" charset="0"/>
                <a:cs typeface="Times New Roman" panose="02020603050405020304" pitchFamily="18" charset="0"/>
              </a:rPr>
              <a:t>Sensors</a:t>
            </a:r>
            <a:r>
              <a:rPr lang="en-US" sz="1400" dirty="0">
                <a:latin typeface="Times New Roman" panose="02020603050405020304" pitchFamily="18" charset="0"/>
                <a:cs typeface="Times New Roman" panose="02020603050405020304" pitchFamily="18" charset="0"/>
              </a:rPr>
              <a:t>, vol. 24, no. 18, p. 5937, Sep. 2024,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10.3390/s24185937.</a:t>
            </a:r>
          </a:p>
          <a:p>
            <a:pPr algn="just">
              <a:lnSpc>
                <a:spcPct val="150000"/>
              </a:lnSpc>
            </a:pPr>
            <a:r>
              <a:rPr lang="en-US" sz="1400" dirty="0">
                <a:latin typeface="Times New Roman" panose="02020603050405020304" pitchFamily="18" charset="0"/>
                <a:cs typeface="Times New Roman" panose="02020603050405020304" pitchFamily="18" charset="0"/>
              </a:rPr>
              <a:t>[6] A. A. Hady, A. </a:t>
            </a:r>
            <a:r>
              <a:rPr lang="en-US" sz="1400" dirty="0" err="1">
                <a:latin typeface="Times New Roman" panose="02020603050405020304" pitchFamily="18" charset="0"/>
                <a:cs typeface="Times New Roman" panose="02020603050405020304" pitchFamily="18" charset="0"/>
              </a:rPr>
              <a:t>Ghubaish</a:t>
            </a:r>
            <a:r>
              <a:rPr lang="en-US" sz="1400" dirty="0">
                <a:latin typeface="Times New Roman" panose="02020603050405020304" pitchFamily="18" charset="0"/>
                <a:cs typeface="Times New Roman" panose="02020603050405020304" pitchFamily="18" charset="0"/>
              </a:rPr>
              <a:t>, T. Salman, D. Unal, and R. Jain, “Intrusion detection system for healthcare systems using medical and network data: A comparison study,” </a:t>
            </a:r>
            <a:r>
              <a:rPr lang="en-US" sz="1400" i="1" dirty="0">
                <a:latin typeface="Times New Roman" panose="02020603050405020304" pitchFamily="18" charset="0"/>
                <a:cs typeface="Times New Roman" panose="02020603050405020304" pitchFamily="18" charset="0"/>
              </a:rPr>
              <a:t>IEEE Access</a:t>
            </a:r>
            <a:r>
              <a:rPr lang="en-US" sz="1400" dirty="0">
                <a:latin typeface="Times New Roman" panose="02020603050405020304" pitchFamily="18" charset="0"/>
                <a:cs typeface="Times New Roman" panose="02020603050405020304" pitchFamily="18" charset="0"/>
              </a:rPr>
              <a:t>, vol. 8, pp. 106576–106584, 2020,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10.1109/ACCESS.2020.3000421.</a:t>
            </a:r>
          </a:p>
          <a:p>
            <a:pPr algn="just">
              <a:lnSpc>
                <a:spcPct val="150000"/>
              </a:lnSpc>
            </a:pPr>
            <a:r>
              <a:rPr lang="en-US" sz="1400" dirty="0">
                <a:latin typeface="Times New Roman" panose="02020603050405020304" pitchFamily="18" charset="0"/>
                <a:cs typeface="Times New Roman" panose="02020603050405020304" pitchFamily="18" charset="0"/>
              </a:rPr>
              <a:t>[7] I. Ullah and Q. H. Mahmoud, “Design and development of a deep learning-based model for anomaly detection in IoT networks,” </a:t>
            </a:r>
            <a:r>
              <a:rPr lang="en-US" sz="1400" i="1" dirty="0">
                <a:latin typeface="Times New Roman" panose="02020603050405020304" pitchFamily="18" charset="0"/>
                <a:cs typeface="Times New Roman" panose="02020603050405020304" pitchFamily="18" charset="0"/>
              </a:rPr>
              <a:t>IEEE Access</a:t>
            </a:r>
            <a:r>
              <a:rPr lang="en-US" sz="1400" dirty="0">
                <a:latin typeface="Times New Roman" panose="02020603050405020304" pitchFamily="18" charset="0"/>
                <a:cs typeface="Times New Roman" panose="02020603050405020304" pitchFamily="18" charset="0"/>
              </a:rPr>
              <a:t>, vol. 9, pp. 103906–103926, 2021,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10.1109/ACCESS.2021.3094024.</a:t>
            </a:r>
          </a:p>
        </p:txBody>
      </p:sp>
    </p:spTree>
    <p:extLst>
      <p:ext uri="{BB962C8B-B14F-4D97-AF65-F5344CB8AC3E}">
        <p14:creationId xmlns:p14="http://schemas.microsoft.com/office/powerpoint/2010/main" val="3147150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44C6BE-0D8A-9A30-8BE6-F4AFFBB1E873}"/>
              </a:ext>
            </a:extLst>
          </p:cNvPr>
          <p:cNvSpPr txBox="1"/>
          <p:nvPr/>
        </p:nvSpPr>
        <p:spPr>
          <a:xfrm>
            <a:off x="4269985" y="2408903"/>
            <a:ext cx="4539717" cy="923330"/>
          </a:xfrm>
          <a:prstGeom prst="rect">
            <a:avLst/>
          </a:prstGeom>
          <a:noFill/>
        </p:spPr>
        <p:txBody>
          <a:bodyPr wrap="square" rtlCol="0">
            <a:spAutoFit/>
          </a:bodyPr>
          <a:lstStyle/>
          <a:p>
            <a:r>
              <a:rPr lang="en-US" sz="5400" i="1" dirty="0">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2367263518"/>
      </p:ext>
    </p:extLst>
  </p:cSld>
  <p:clrMapOvr>
    <a:masterClrMapping/>
  </p:clrMapOvr>
</p:sld>
</file>

<file path=ppt/theme/theme1.xml><?xml version="1.0" encoding="utf-8"?>
<a:theme xmlns:a="http://schemas.openxmlformats.org/drawingml/2006/main" name="Wisp">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Beige Modern Simple Aesthetic Group Project Presentation</Template>
  <TotalTime>1290</TotalTime>
  <Words>2677</Words>
  <Application>Microsoft Office PowerPoint</Application>
  <PresentationFormat>Widescreen</PresentationFormat>
  <Paragraphs>205</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Century Gothic</vt:lpstr>
      <vt:lpstr>Times New Roman</vt:lpstr>
      <vt:lpstr>Wingdings</vt:lpstr>
      <vt:lpstr>Wingdings 3</vt:lpstr>
      <vt:lpstr>Wisp</vt:lpstr>
      <vt:lpstr>PowerPoint Presentation</vt:lpstr>
      <vt:lpstr>PowerPoint Presentation</vt:lpstr>
      <vt:lpstr>ABSTRACT</vt:lpstr>
      <vt:lpstr>INTRODUCTION</vt:lpstr>
      <vt:lpstr>PowerPoint Presentation</vt:lpstr>
      <vt:lpstr>PowerPoint Presentation</vt:lpstr>
      <vt:lpstr>OBJECTIVE </vt:lpstr>
      <vt:lpstr>EXISTING SYSTEM</vt:lpstr>
      <vt:lpstr>PROPOSED SYSTEM</vt:lpstr>
      <vt:lpstr>HARDWARE REQUIREMENTS  </vt:lpstr>
      <vt:lpstr>SOFTWARE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kota ummiti</dc:creator>
  <cp:lastModifiedBy>kota ummiti</cp:lastModifiedBy>
  <cp:revision>32</cp:revision>
  <dcterms:created xsi:type="dcterms:W3CDTF">2025-12-15T04:04:05Z</dcterms:created>
  <dcterms:modified xsi:type="dcterms:W3CDTF">2026-04-04T04:14:55Z</dcterms:modified>
</cp:coreProperties>
</file>